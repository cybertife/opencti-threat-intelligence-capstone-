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6858000" cx="12191975"/>
  <p:notesSz cx="6858000" cy="9144000"/>
  <p:embeddedFontLst>
    <p:embeddedFont>
      <p:font typeface="Play"/>
      <p:regular r:id="rId19"/>
      <p:bold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lay-bold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Play-regular.fntdata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h6501376a21b0e2a4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h6501376a21b0e2a4_1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h6501376a21b0e2a4_1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h6501376a21b0e2a4_1_1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image" Target="../media/image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71226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/>
          <p:nvPr/>
        </p:nvSpPr>
        <p:spPr>
          <a:xfrm>
            <a:off x="0" y="0"/>
            <a:ext cx="128100" cy="6858000"/>
          </a:xfrm>
          <a:prstGeom prst="rect">
            <a:avLst/>
          </a:prstGeom>
          <a:solidFill>
            <a:srgbClr val="22D3EE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3"/>
          <p:cNvSpPr txBox="1"/>
          <p:nvPr/>
        </p:nvSpPr>
        <p:spPr>
          <a:xfrm>
            <a:off x="768096" y="3135260"/>
            <a:ext cx="9601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22D3EE"/>
                </a:solidFill>
                <a:latin typeface="Calibri"/>
                <a:ea typeface="Calibri"/>
                <a:cs typeface="Calibri"/>
                <a:sym typeface="Calibri"/>
              </a:rPr>
              <a:t>Presented by: Makinde Boluwatife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768100" y="2812150"/>
            <a:ext cx="4236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OpenCTI • Wazuh • Sysmon • MITRE ATT&amp;CK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924277" y="1019550"/>
            <a:ext cx="9070200" cy="14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Threat Intelligence Integration with OpenCTI</a:t>
            </a:r>
            <a:endParaRPr b="1" sz="4000">
              <a:solidFill>
                <a:schemeClr val="lt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71226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4"/>
          <p:cNvSpPr txBox="1"/>
          <p:nvPr/>
        </p:nvSpPr>
        <p:spPr>
          <a:xfrm>
            <a:off x="594360" y="320040"/>
            <a:ext cx="109728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F8FAFC"/>
                </a:solidFill>
                <a:latin typeface="Play"/>
                <a:ea typeface="Play"/>
                <a:cs typeface="Play"/>
                <a:sym typeface="Play"/>
              </a:rPr>
              <a:t>Project Goal</a:t>
            </a:r>
            <a:endParaRPr/>
          </a:p>
        </p:txBody>
      </p:sp>
      <p:sp>
        <p:nvSpPr>
          <p:cNvPr id="93" name="Google Shape;93;p14"/>
          <p:cNvSpPr txBox="1"/>
          <p:nvPr/>
        </p:nvSpPr>
        <p:spPr>
          <a:xfrm>
            <a:off x="621792" y="932688"/>
            <a:ext cx="10698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Why threat intelligence was added to the SOC lab</a:t>
            </a:r>
            <a:endParaRPr/>
          </a:p>
        </p:txBody>
      </p:sp>
      <p:sp>
        <p:nvSpPr>
          <p:cNvPr id="94" name="Google Shape;94;p14"/>
          <p:cNvSpPr/>
          <p:nvPr/>
        </p:nvSpPr>
        <p:spPr>
          <a:xfrm>
            <a:off x="685800" y="1371600"/>
            <a:ext cx="3383280" cy="1508760"/>
          </a:xfrm>
          <a:prstGeom prst="roundRect">
            <a:avLst>
              <a:gd fmla="val 16667" name="adj"/>
            </a:avLst>
          </a:prstGeom>
          <a:solidFill>
            <a:srgbClr val="0F1E37"/>
          </a:solidFill>
          <a:ln cap="flat" cmpd="sng" w="9525">
            <a:solidFill>
              <a:srgbClr val="1E3A5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4"/>
          <p:cNvSpPr/>
          <p:nvPr/>
        </p:nvSpPr>
        <p:spPr>
          <a:xfrm>
            <a:off x="685800" y="1371600"/>
            <a:ext cx="64008" cy="1508760"/>
          </a:xfrm>
          <a:prstGeom prst="rect">
            <a:avLst/>
          </a:prstGeom>
          <a:solidFill>
            <a:srgbClr val="22D3E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4"/>
          <p:cNvSpPr txBox="1"/>
          <p:nvPr/>
        </p:nvSpPr>
        <p:spPr>
          <a:xfrm>
            <a:off x="886968" y="1536192"/>
            <a:ext cx="3017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COLLECT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886968" y="1938528"/>
            <a:ext cx="3017520" cy="8229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Bring external threat intelligence into a central platform.</a:t>
            </a:r>
            <a:endParaRPr/>
          </a:p>
        </p:txBody>
      </p:sp>
      <p:sp>
        <p:nvSpPr>
          <p:cNvPr id="98" name="Google Shape;98;p14"/>
          <p:cNvSpPr/>
          <p:nvPr/>
        </p:nvSpPr>
        <p:spPr>
          <a:xfrm>
            <a:off x="4389120" y="1371600"/>
            <a:ext cx="3383280" cy="1508760"/>
          </a:xfrm>
          <a:prstGeom prst="roundRect">
            <a:avLst>
              <a:gd fmla="val 16667" name="adj"/>
            </a:avLst>
          </a:prstGeom>
          <a:solidFill>
            <a:srgbClr val="0F1E37"/>
          </a:solidFill>
          <a:ln cap="flat" cmpd="sng" w="9525">
            <a:solidFill>
              <a:srgbClr val="1E3A5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4"/>
          <p:cNvSpPr/>
          <p:nvPr/>
        </p:nvSpPr>
        <p:spPr>
          <a:xfrm>
            <a:off x="4389120" y="1371600"/>
            <a:ext cx="64008" cy="1508760"/>
          </a:xfrm>
          <a:prstGeom prst="rect">
            <a:avLst/>
          </a:prstGeom>
          <a:solidFill>
            <a:srgbClr val="0066C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4"/>
          <p:cNvSpPr txBox="1"/>
          <p:nvPr/>
        </p:nvSpPr>
        <p:spPr>
          <a:xfrm>
            <a:off x="4590288" y="1536192"/>
            <a:ext cx="3017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CONTEXTUALIZE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4590288" y="1938528"/>
            <a:ext cx="3017520" cy="8229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Use STIX/MITRE ATT&amp;CK to understand indicators and behaviors.</a:t>
            </a:r>
            <a:endParaRPr/>
          </a:p>
        </p:txBody>
      </p:sp>
      <p:sp>
        <p:nvSpPr>
          <p:cNvPr id="102" name="Google Shape;102;p14"/>
          <p:cNvSpPr/>
          <p:nvPr/>
        </p:nvSpPr>
        <p:spPr>
          <a:xfrm>
            <a:off x="8092440" y="1371600"/>
            <a:ext cx="3383280" cy="1508760"/>
          </a:xfrm>
          <a:prstGeom prst="roundRect">
            <a:avLst>
              <a:gd fmla="val 16667" name="adj"/>
            </a:avLst>
          </a:prstGeom>
          <a:solidFill>
            <a:srgbClr val="0F1E37"/>
          </a:solidFill>
          <a:ln cap="flat" cmpd="sng" w="9525">
            <a:solidFill>
              <a:srgbClr val="1E3A5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4"/>
          <p:cNvSpPr/>
          <p:nvPr/>
        </p:nvSpPr>
        <p:spPr>
          <a:xfrm>
            <a:off x="8092440" y="1371600"/>
            <a:ext cx="64008" cy="1508760"/>
          </a:xfrm>
          <a:prstGeom prst="rect">
            <a:avLst/>
          </a:prstGeom>
          <a:solidFill>
            <a:srgbClr val="16A34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4"/>
          <p:cNvSpPr txBox="1"/>
          <p:nvPr/>
        </p:nvSpPr>
        <p:spPr>
          <a:xfrm>
            <a:off x="8293608" y="1536192"/>
            <a:ext cx="3017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OPERATIONALIZE</a:t>
            </a:r>
            <a:endParaRPr/>
          </a:p>
        </p:txBody>
      </p:sp>
      <p:sp>
        <p:nvSpPr>
          <p:cNvPr id="105" name="Google Shape;105;p14"/>
          <p:cNvSpPr txBox="1"/>
          <p:nvPr/>
        </p:nvSpPr>
        <p:spPr>
          <a:xfrm>
            <a:off x="8293608" y="1938528"/>
            <a:ext cx="3017520" cy="8229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Use CTI to enrich SOC alerts and improve detection.</a:t>
            </a:r>
            <a:endParaRPr/>
          </a:p>
        </p:txBody>
      </p:sp>
      <p:sp>
        <p:nvSpPr>
          <p:cNvPr id="106" name="Google Shape;106;p14"/>
          <p:cNvSpPr/>
          <p:nvPr/>
        </p:nvSpPr>
        <p:spPr>
          <a:xfrm>
            <a:off x="594360" y="6565392"/>
            <a:ext cx="10972800" cy="10972"/>
          </a:xfrm>
          <a:prstGeom prst="rect">
            <a:avLst/>
          </a:prstGeom>
          <a:solidFill>
            <a:srgbClr val="1E293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4"/>
          <p:cNvSpPr txBox="1"/>
          <p:nvPr/>
        </p:nvSpPr>
        <p:spPr>
          <a:xfrm>
            <a:off x="621792" y="6592824"/>
            <a:ext cx="64008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Threat Intelligence Integration with OpenCTI</a:t>
            </a:r>
            <a:endParaRPr/>
          </a:p>
        </p:txBody>
      </p:sp>
      <p:sp>
        <p:nvSpPr>
          <p:cNvPr id="108" name="Google Shape;108;p14"/>
          <p:cNvSpPr txBox="1"/>
          <p:nvPr/>
        </p:nvSpPr>
        <p:spPr>
          <a:xfrm>
            <a:off x="10698480" y="6592824"/>
            <a:ext cx="8229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109" name="Google Shape;109;p14"/>
          <p:cNvSpPr txBox="1"/>
          <p:nvPr>
            <p:ph idx="4294967295" type="body"/>
          </p:nvPr>
        </p:nvSpPr>
        <p:spPr>
          <a:xfrm>
            <a:off x="594338" y="3239523"/>
            <a:ext cx="10881300" cy="29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■"/>
            </a:pPr>
            <a:r>
              <a:rPr lang="en-US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Deploy OpenCTI and connect it to live external threat intel feeds</a:t>
            </a:r>
            <a:endParaRPr sz="1600">
              <a:solidFill>
                <a:schemeClr val="lt1"/>
              </a:solidFill>
            </a:endParaRPr>
          </a:p>
          <a:p>
            <a:pPr indent="-228600" lvl="0" marL="228600" rtl="0" algn="l">
              <a:spcBef>
                <a:spcPts val="1720"/>
              </a:spcBef>
              <a:spcAft>
                <a:spcPts val="0"/>
              </a:spcAft>
              <a:buClr>
                <a:schemeClr val="lt1"/>
              </a:buClr>
              <a:buSzPts val="1600"/>
              <a:buChar char="■"/>
            </a:pPr>
            <a:r>
              <a:rPr lang="en-US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Build a working OpenCTI ↔ Wazuh integration — both a batch export and a live enrichment path</a:t>
            </a:r>
            <a:endParaRPr sz="1600">
              <a:solidFill>
                <a:schemeClr val="lt1"/>
              </a:solidFill>
            </a:endParaRPr>
          </a:p>
          <a:p>
            <a:pPr indent="-228600" lvl="0" marL="228600" rtl="0" algn="l">
              <a:spcBef>
                <a:spcPts val="1720"/>
              </a:spcBef>
              <a:spcAft>
                <a:spcPts val="0"/>
              </a:spcAft>
              <a:buClr>
                <a:schemeClr val="lt1"/>
              </a:buClr>
              <a:buSzPts val="1600"/>
              <a:buChar char="■"/>
            </a:pPr>
            <a:r>
              <a:rPr lang="en-US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Validate the integration end-to-end using genuine, live telemetry — not synthetic logs</a:t>
            </a:r>
            <a:endParaRPr sz="1600">
              <a:solidFill>
                <a:schemeClr val="lt1"/>
              </a:solidFill>
            </a:endParaRPr>
          </a:p>
          <a:p>
            <a:pPr indent="-228600" lvl="0" marL="228600" rtl="0" algn="l">
              <a:spcBef>
                <a:spcPts val="1720"/>
              </a:spcBef>
              <a:spcAft>
                <a:spcPts val="0"/>
              </a:spcAft>
              <a:buClr>
                <a:schemeClr val="lt1"/>
              </a:buClr>
              <a:buSzPts val="1600"/>
              <a:buChar char="■"/>
            </a:pPr>
            <a:r>
              <a:rPr lang="en-US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Apply CTI/ATT&amp;CK context to measurably improve a real Wazuh detection rule</a:t>
            </a:r>
            <a:endParaRPr sz="1600">
              <a:solidFill>
                <a:schemeClr val="lt1"/>
              </a:solidFill>
            </a:endParaRPr>
          </a:p>
          <a:p>
            <a:pPr indent="-228600" lvl="0" marL="228600" rtl="0" algn="l">
              <a:spcBef>
                <a:spcPts val="1720"/>
              </a:spcBef>
              <a:spcAft>
                <a:spcPts val="0"/>
              </a:spcAft>
              <a:buClr>
                <a:schemeClr val="lt1"/>
              </a:buClr>
              <a:buSzPts val="1600"/>
              <a:buChar char="■"/>
            </a:pPr>
            <a:r>
              <a:rPr lang="en-US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Document architecture, obstacles, and lessons learned honestly</a:t>
            </a:r>
            <a:endParaRPr sz="16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71226"/>
        </a:solid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5"/>
          <p:cNvSpPr txBox="1"/>
          <p:nvPr/>
        </p:nvSpPr>
        <p:spPr>
          <a:xfrm>
            <a:off x="594360" y="320040"/>
            <a:ext cx="109728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F8FAFC"/>
                </a:solidFill>
                <a:latin typeface="Play"/>
                <a:ea typeface="Play"/>
                <a:cs typeface="Play"/>
                <a:sym typeface="Play"/>
              </a:rPr>
              <a:t>Lab Architecture</a:t>
            </a:r>
            <a:endParaRPr/>
          </a:p>
        </p:txBody>
      </p:sp>
      <p:sp>
        <p:nvSpPr>
          <p:cNvPr id="115" name="Google Shape;115;p15"/>
          <p:cNvSpPr txBox="1"/>
          <p:nvPr/>
        </p:nvSpPr>
        <p:spPr>
          <a:xfrm>
            <a:off x="621792" y="932688"/>
            <a:ext cx="10698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How CTI, endpoint telemetry and detection were connected</a:t>
            </a:r>
            <a:endParaRPr/>
          </a:p>
        </p:txBody>
      </p:sp>
      <p:pic>
        <p:nvPicPr>
          <p:cNvPr descr="a_clean_professional_infographic_architectural.png" id="116" name="Google Shape;116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43150" y="1234440"/>
            <a:ext cx="7475220" cy="498348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/>
          <p:nvPr/>
        </p:nvSpPr>
        <p:spPr>
          <a:xfrm>
            <a:off x="594360" y="6565392"/>
            <a:ext cx="10972800" cy="10972"/>
          </a:xfrm>
          <a:prstGeom prst="rect">
            <a:avLst/>
          </a:prstGeom>
          <a:solidFill>
            <a:srgbClr val="1E293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5"/>
          <p:cNvSpPr txBox="1"/>
          <p:nvPr/>
        </p:nvSpPr>
        <p:spPr>
          <a:xfrm>
            <a:off x="621792" y="6592824"/>
            <a:ext cx="64008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Threat Intelligence Integration with OpenCTI</a:t>
            </a:r>
            <a:endParaRPr/>
          </a:p>
        </p:txBody>
      </p:sp>
      <p:sp>
        <p:nvSpPr>
          <p:cNvPr id="119" name="Google Shape;119;p15"/>
          <p:cNvSpPr txBox="1"/>
          <p:nvPr/>
        </p:nvSpPr>
        <p:spPr>
          <a:xfrm>
            <a:off x="10698480" y="6592824"/>
            <a:ext cx="8229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71226"/>
        </a:solidFill>
      </p:bgPr>
    </p:bg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6"/>
          <p:cNvSpPr txBox="1"/>
          <p:nvPr/>
        </p:nvSpPr>
        <p:spPr>
          <a:xfrm>
            <a:off x="594360" y="320040"/>
            <a:ext cx="109728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-US" sz="2800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Two Integration Paths</a:t>
            </a:r>
            <a:endParaRPr b="1" sz="2700">
              <a:solidFill>
                <a:schemeClr val="lt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125" name="Google Shape;125;p16"/>
          <p:cNvSpPr/>
          <p:nvPr/>
        </p:nvSpPr>
        <p:spPr>
          <a:xfrm>
            <a:off x="594360" y="6565392"/>
            <a:ext cx="10972800" cy="11100"/>
          </a:xfrm>
          <a:prstGeom prst="rect">
            <a:avLst/>
          </a:prstGeom>
          <a:solidFill>
            <a:srgbClr val="1E293B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6"/>
          <p:cNvSpPr txBox="1"/>
          <p:nvPr/>
        </p:nvSpPr>
        <p:spPr>
          <a:xfrm>
            <a:off x="621792" y="6592824"/>
            <a:ext cx="64008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Threat Intelligence Integration with OpenCTI</a:t>
            </a:r>
            <a:endParaRPr/>
          </a:p>
        </p:txBody>
      </p:sp>
      <p:sp>
        <p:nvSpPr>
          <p:cNvPr id="127" name="Google Shape;127;p16"/>
          <p:cNvSpPr txBox="1"/>
          <p:nvPr/>
        </p:nvSpPr>
        <p:spPr>
          <a:xfrm>
            <a:off x="10698480" y="6592824"/>
            <a:ext cx="8229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128" name="Google Shape;128;p16"/>
          <p:cNvSpPr txBox="1"/>
          <p:nvPr>
            <p:ph idx="4294967295" type="body"/>
          </p:nvPr>
        </p:nvSpPr>
        <p:spPr>
          <a:xfrm>
            <a:off x="640100" y="1403898"/>
            <a:ext cx="10881300" cy="299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47650" lvl="0" marL="2286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■"/>
            </a:pPr>
            <a:r>
              <a:rPr b="1" lang="en-US" sz="1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Batch export — CDB list</a:t>
            </a:r>
            <a:endParaRPr sz="1900">
              <a:solidFill>
                <a:schemeClr val="lt1"/>
              </a:solidFill>
            </a:endParaRPr>
          </a:p>
          <a:p>
            <a:pPr indent="-247650" lvl="1" marL="457200" rtl="0" algn="l">
              <a:spcBef>
                <a:spcPts val="1690"/>
              </a:spcBef>
              <a:spcAft>
                <a:spcPts val="0"/>
              </a:spcAft>
              <a:buClr>
                <a:schemeClr val="lt1"/>
              </a:buClr>
              <a:buSzPts val="1750"/>
              <a:buChar char="–"/>
            </a:pPr>
            <a:r>
              <a:rPr lang="en-US" sz="17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Indicators periodically exported from OpenCTI into a Wazuh CDB list (opencti-ips)</a:t>
            </a:r>
            <a:endParaRPr sz="1900">
              <a:solidFill>
                <a:schemeClr val="lt1"/>
              </a:solidFill>
            </a:endParaRPr>
          </a:p>
          <a:p>
            <a:pPr indent="-247650" lvl="1" marL="457200" rtl="0" algn="l">
              <a:spcBef>
                <a:spcPts val="1090"/>
              </a:spcBef>
              <a:spcAft>
                <a:spcPts val="0"/>
              </a:spcAft>
              <a:buClr>
                <a:schemeClr val="lt1"/>
              </a:buClr>
              <a:buSzPts val="1750"/>
              <a:buChar char="–"/>
            </a:pPr>
            <a:r>
              <a:rPr lang="en-US" sz="17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analysisd checks this list directly against live Sysmon Event ID 3 fields — no external call needed at alert time</a:t>
            </a:r>
            <a:endParaRPr sz="1900">
              <a:solidFill>
                <a:schemeClr val="lt1"/>
              </a:solidFill>
            </a:endParaRPr>
          </a:p>
          <a:p>
            <a:pPr indent="-247650" lvl="0" marL="228600" rtl="0" algn="l">
              <a:spcBef>
                <a:spcPts val="1120"/>
              </a:spcBef>
              <a:spcAft>
                <a:spcPts val="0"/>
              </a:spcAft>
              <a:buClr>
                <a:schemeClr val="lt1"/>
              </a:buClr>
              <a:buSzPts val="1900"/>
              <a:buChar char="■"/>
            </a:pPr>
            <a:r>
              <a:rPr b="1" lang="en-US" sz="1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Live enrichment lookup</a:t>
            </a:r>
            <a:endParaRPr sz="1900">
              <a:solidFill>
                <a:schemeClr val="lt1"/>
              </a:solidFill>
            </a:endParaRPr>
          </a:p>
          <a:p>
            <a:pPr indent="-247650" lvl="1" marL="457200" rtl="0" algn="l">
              <a:spcBef>
                <a:spcPts val="1690"/>
              </a:spcBef>
              <a:spcAft>
                <a:spcPts val="0"/>
              </a:spcAft>
              <a:buClr>
                <a:schemeClr val="lt1"/>
              </a:buClr>
              <a:buSzPts val="1750"/>
              <a:buChar char="–"/>
            </a:pPr>
            <a:r>
              <a:rPr lang="en-US" sz="17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When a rule fires, wazuh-integratord invokes a custom script (custom-opencti-enrich.py)</a:t>
            </a:r>
            <a:endParaRPr sz="1900">
              <a:solidFill>
                <a:schemeClr val="lt1"/>
              </a:solidFill>
            </a:endParaRPr>
          </a:p>
          <a:p>
            <a:pPr indent="-247650" lvl="1" marL="457200" rtl="0" algn="l">
              <a:spcBef>
                <a:spcPts val="1090"/>
              </a:spcBef>
              <a:spcAft>
                <a:spcPts val="0"/>
              </a:spcAft>
              <a:buClr>
                <a:schemeClr val="lt1"/>
              </a:buClr>
              <a:buSzPts val="1750"/>
              <a:buChar char="–"/>
            </a:pPr>
            <a:r>
              <a:rPr lang="en-US" sz="17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Queries OpenCTI in real time, writes back actor, campaign, ATT&amp;CK technique, confidence</a:t>
            </a:r>
            <a:endParaRPr sz="1900">
              <a:solidFill>
                <a:schemeClr val="lt1"/>
              </a:solidFill>
            </a:endParaRPr>
          </a:p>
          <a:p>
            <a:pPr indent="-247650" lvl="1" marL="457200" rtl="0" algn="l">
              <a:spcBef>
                <a:spcPts val="1090"/>
              </a:spcBef>
              <a:spcAft>
                <a:spcPts val="0"/>
              </a:spcAft>
              <a:buClr>
                <a:schemeClr val="lt1"/>
              </a:buClr>
              <a:buSzPts val="1750"/>
              <a:buChar char="–"/>
            </a:pPr>
            <a:r>
              <a:rPr lang="en-US" sz="1750">
                <a:solidFill>
                  <a:schemeClr val="lt1"/>
                </a:solidFill>
              </a:rPr>
              <a:t>Verified the enrichment workflow using a controlled test alert and a real OpenCTI indicator match.</a:t>
            </a:r>
            <a:endParaRPr sz="1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71226"/>
        </a:solidFill>
      </p:bgPr>
    </p:bg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7"/>
          <p:cNvSpPr txBox="1"/>
          <p:nvPr/>
        </p:nvSpPr>
        <p:spPr>
          <a:xfrm>
            <a:off x="594360" y="320040"/>
            <a:ext cx="109728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F8FAFC"/>
                </a:solidFill>
                <a:latin typeface="Play"/>
                <a:ea typeface="Play"/>
                <a:cs typeface="Play"/>
                <a:sym typeface="Play"/>
              </a:rPr>
              <a:t>OpenCTI Deployment</a:t>
            </a:r>
            <a:endParaRPr/>
          </a:p>
        </p:txBody>
      </p:sp>
      <p:sp>
        <p:nvSpPr>
          <p:cNvPr id="134" name="Google Shape;134;p17"/>
          <p:cNvSpPr txBox="1"/>
          <p:nvPr/>
        </p:nvSpPr>
        <p:spPr>
          <a:xfrm>
            <a:off x="621792" y="932688"/>
            <a:ext cx="10698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Central platform for threat intelligence</a:t>
            </a:r>
            <a:endParaRPr/>
          </a:p>
        </p:txBody>
      </p:sp>
      <p:pic>
        <p:nvPicPr>
          <p:cNvPr descr="Screenshot 2026-09-30 at 10.00.44 PM.png" id="135" name="Google Shape;135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0080" y="2095641"/>
            <a:ext cx="5577839" cy="3123917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17"/>
          <p:cNvSpPr/>
          <p:nvPr/>
        </p:nvSpPr>
        <p:spPr>
          <a:xfrm>
            <a:off x="6537960" y="1417320"/>
            <a:ext cx="4846320" cy="1188720"/>
          </a:xfrm>
          <a:prstGeom prst="roundRect">
            <a:avLst>
              <a:gd fmla="val 16667" name="adj"/>
            </a:avLst>
          </a:prstGeom>
          <a:solidFill>
            <a:srgbClr val="0F1E37"/>
          </a:solidFill>
          <a:ln cap="flat" cmpd="sng" w="9525">
            <a:solidFill>
              <a:srgbClr val="1E3A5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7"/>
          <p:cNvSpPr/>
          <p:nvPr/>
        </p:nvSpPr>
        <p:spPr>
          <a:xfrm>
            <a:off x="6537960" y="1417320"/>
            <a:ext cx="64008" cy="1188720"/>
          </a:xfrm>
          <a:prstGeom prst="rect">
            <a:avLst/>
          </a:prstGeom>
          <a:solidFill>
            <a:srgbClr val="22D3E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7"/>
          <p:cNvSpPr txBox="1"/>
          <p:nvPr/>
        </p:nvSpPr>
        <p:spPr>
          <a:xfrm>
            <a:off x="6739128" y="1581912"/>
            <a:ext cx="4480559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OPENCTI</a:t>
            </a:r>
            <a:endParaRPr/>
          </a:p>
        </p:txBody>
      </p:sp>
      <p:sp>
        <p:nvSpPr>
          <p:cNvPr id="139" name="Google Shape;139;p17"/>
          <p:cNvSpPr txBox="1"/>
          <p:nvPr/>
        </p:nvSpPr>
        <p:spPr>
          <a:xfrm>
            <a:off x="6739128" y="1984248"/>
            <a:ext cx="4480559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Central repository for indicators, observables, relationships and threat context.</a:t>
            </a:r>
            <a:endParaRPr/>
          </a:p>
        </p:txBody>
      </p:sp>
      <p:sp>
        <p:nvSpPr>
          <p:cNvPr id="140" name="Google Shape;140;p17"/>
          <p:cNvSpPr/>
          <p:nvPr/>
        </p:nvSpPr>
        <p:spPr>
          <a:xfrm>
            <a:off x="6537960" y="2788920"/>
            <a:ext cx="4846320" cy="1188720"/>
          </a:xfrm>
          <a:prstGeom prst="roundRect">
            <a:avLst>
              <a:gd fmla="val 16667" name="adj"/>
            </a:avLst>
          </a:prstGeom>
          <a:solidFill>
            <a:srgbClr val="0F1E37"/>
          </a:solidFill>
          <a:ln cap="flat" cmpd="sng" w="9525">
            <a:solidFill>
              <a:srgbClr val="1E3A5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7"/>
          <p:cNvSpPr/>
          <p:nvPr/>
        </p:nvSpPr>
        <p:spPr>
          <a:xfrm>
            <a:off x="6537960" y="2788920"/>
            <a:ext cx="64008" cy="1188720"/>
          </a:xfrm>
          <a:prstGeom prst="rect">
            <a:avLst/>
          </a:prstGeom>
          <a:solidFill>
            <a:srgbClr val="0066C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7"/>
          <p:cNvSpPr txBox="1"/>
          <p:nvPr/>
        </p:nvSpPr>
        <p:spPr>
          <a:xfrm>
            <a:off x="6739128" y="2953512"/>
            <a:ext cx="4480559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MITRE ATT&amp;CK</a:t>
            </a:r>
            <a:endParaRPr/>
          </a:p>
        </p:txBody>
      </p:sp>
      <p:sp>
        <p:nvSpPr>
          <p:cNvPr id="143" name="Google Shape;143;p17"/>
          <p:cNvSpPr txBox="1"/>
          <p:nvPr/>
        </p:nvSpPr>
        <p:spPr>
          <a:xfrm>
            <a:off x="6739128" y="3355848"/>
            <a:ext cx="4480559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Imported to provide technique and tactic context for SOC analysis.</a:t>
            </a:r>
            <a:endParaRPr/>
          </a:p>
        </p:txBody>
      </p:sp>
      <p:sp>
        <p:nvSpPr>
          <p:cNvPr id="144" name="Google Shape;144;p17"/>
          <p:cNvSpPr/>
          <p:nvPr/>
        </p:nvSpPr>
        <p:spPr>
          <a:xfrm>
            <a:off x="6537960" y="4160520"/>
            <a:ext cx="4846320" cy="1188720"/>
          </a:xfrm>
          <a:prstGeom prst="roundRect">
            <a:avLst>
              <a:gd fmla="val 16667" name="adj"/>
            </a:avLst>
          </a:prstGeom>
          <a:solidFill>
            <a:srgbClr val="0F1E37"/>
          </a:solidFill>
          <a:ln cap="flat" cmpd="sng" w="9525">
            <a:solidFill>
              <a:srgbClr val="1E3A5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7"/>
          <p:cNvSpPr/>
          <p:nvPr/>
        </p:nvSpPr>
        <p:spPr>
          <a:xfrm>
            <a:off x="6537960" y="4160520"/>
            <a:ext cx="64008" cy="1188720"/>
          </a:xfrm>
          <a:prstGeom prst="rect">
            <a:avLst/>
          </a:prstGeom>
          <a:solidFill>
            <a:srgbClr val="16A34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7"/>
          <p:cNvSpPr txBox="1"/>
          <p:nvPr/>
        </p:nvSpPr>
        <p:spPr>
          <a:xfrm>
            <a:off x="6739128" y="4325112"/>
            <a:ext cx="4480559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OPERATIONAL RESULT</a:t>
            </a:r>
            <a:endParaRPr/>
          </a:p>
        </p:txBody>
      </p:sp>
      <p:sp>
        <p:nvSpPr>
          <p:cNvPr id="147" name="Google Shape;147;p17"/>
          <p:cNvSpPr txBox="1"/>
          <p:nvPr/>
        </p:nvSpPr>
        <p:spPr>
          <a:xfrm>
            <a:off x="6739128" y="4727448"/>
            <a:ext cx="4480559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OpenCTI was running and populated with threat-intelligence data.</a:t>
            </a:r>
            <a:endParaRPr/>
          </a:p>
        </p:txBody>
      </p:sp>
      <p:sp>
        <p:nvSpPr>
          <p:cNvPr id="148" name="Google Shape;148;p17"/>
          <p:cNvSpPr/>
          <p:nvPr/>
        </p:nvSpPr>
        <p:spPr>
          <a:xfrm>
            <a:off x="594360" y="6565392"/>
            <a:ext cx="10972800" cy="10972"/>
          </a:xfrm>
          <a:prstGeom prst="rect">
            <a:avLst/>
          </a:prstGeom>
          <a:solidFill>
            <a:srgbClr val="1E293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7"/>
          <p:cNvSpPr txBox="1"/>
          <p:nvPr/>
        </p:nvSpPr>
        <p:spPr>
          <a:xfrm>
            <a:off x="621792" y="6592824"/>
            <a:ext cx="64008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Threat Intelligence Integration with OpenCTI</a:t>
            </a:r>
            <a:endParaRPr/>
          </a:p>
        </p:txBody>
      </p:sp>
      <p:sp>
        <p:nvSpPr>
          <p:cNvPr id="150" name="Google Shape;150;p17"/>
          <p:cNvSpPr txBox="1"/>
          <p:nvPr/>
        </p:nvSpPr>
        <p:spPr>
          <a:xfrm>
            <a:off x="10698480" y="6592824"/>
            <a:ext cx="8229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71226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8"/>
          <p:cNvSpPr txBox="1"/>
          <p:nvPr/>
        </p:nvSpPr>
        <p:spPr>
          <a:xfrm>
            <a:off x="594360" y="320040"/>
            <a:ext cx="109728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F8FAFC"/>
                </a:solidFill>
                <a:latin typeface="Play"/>
                <a:ea typeface="Play"/>
                <a:cs typeface="Play"/>
                <a:sym typeface="Play"/>
              </a:rPr>
              <a:t>Threat Intelligence Ingestion</a:t>
            </a:r>
            <a:endParaRPr/>
          </a:p>
        </p:txBody>
      </p:sp>
      <p:sp>
        <p:nvSpPr>
          <p:cNvPr id="156" name="Google Shape;156;p18"/>
          <p:cNvSpPr txBox="1"/>
          <p:nvPr/>
        </p:nvSpPr>
        <p:spPr>
          <a:xfrm>
            <a:off x="621792" y="932688"/>
            <a:ext cx="10698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External feeds used in the lab</a:t>
            </a:r>
            <a:endParaRPr/>
          </a:p>
        </p:txBody>
      </p:sp>
      <p:pic>
        <p:nvPicPr>
          <p:cNvPr descr="feed-selection screenshot.png" id="157" name="Google Shape;157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0080" y="1827192"/>
            <a:ext cx="6583680" cy="3706534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18"/>
          <p:cNvSpPr/>
          <p:nvPr/>
        </p:nvSpPr>
        <p:spPr>
          <a:xfrm>
            <a:off x="7543800" y="1417320"/>
            <a:ext cx="3840480" cy="1234440"/>
          </a:xfrm>
          <a:prstGeom prst="roundRect">
            <a:avLst>
              <a:gd fmla="val 16667" name="adj"/>
            </a:avLst>
          </a:prstGeom>
          <a:solidFill>
            <a:srgbClr val="0F1E37"/>
          </a:solidFill>
          <a:ln cap="flat" cmpd="sng" w="9525">
            <a:solidFill>
              <a:srgbClr val="1E3A5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8"/>
          <p:cNvSpPr/>
          <p:nvPr/>
        </p:nvSpPr>
        <p:spPr>
          <a:xfrm>
            <a:off x="7543800" y="1417320"/>
            <a:ext cx="64008" cy="1234440"/>
          </a:xfrm>
          <a:prstGeom prst="rect">
            <a:avLst/>
          </a:prstGeom>
          <a:solidFill>
            <a:srgbClr val="22D3E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8"/>
          <p:cNvSpPr txBox="1"/>
          <p:nvPr/>
        </p:nvSpPr>
        <p:spPr>
          <a:xfrm>
            <a:off x="7744968" y="1581912"/>
            <a:ext cx="3474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AlienVault OTX</a:t>
            </a:r>
            <a:endParaRPr/>
          </a:p>
        </p:txBody>
      </p:sp>
      <p:sp>
        <p:nvSpPr>
          <p:cNvPr id="161" name="Google Shape;161;p18"/>
          <p:cNvSpPr txBox="1"/>
          <p:nvPr/>
        </p:nvSpPr>
        <p:spPr>
          <a:xfrm>
            <a:off x="7744968" y="1984248"/>
            <a:ext cx="3474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External threat-intelligence source used to ingest indicators.</a:t>
            </a:r>
            <a:endParaRPr/>
          </a:p>
        </p:txBody>
      </p:sp>
      <p:sp>
        <p:nvSpPr>
          <p:cNvPr id="162" name="Google Shape;162;p18"/>
          <p:cNvSpPr/>
          <p:nvPr/>
        </p:nvSpPr>
        <p:spPr>
          <a:xfrm>
            <a:off x="7543800" y="2880360"/>
            <a:ext cx="3840480" cy="1234440"/>
          </a:xfrm>
          <a:prstGeom prst="roundRect">
            <a:avLst>
              <a:gd fmla="val 16667" name="adj"/>
            </a:avLst>
          </a:prstGeom>
          <a:solidFill>
            <a:srgbClr val="0F1E37"/>
          </a:solidFill>
          <a:ln cap="flat" cmpd="sng" w="9525">
            <a:solidFill>
              <a:srgbClr val="1E3A5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8"/>
          <p:cNvSpPr/>
          <p:nvPr/>
        </p:nvSpPr>
        <p:spPr>
          <a:xfrm>
            <a:off x="7543800" y="2880360"/>
            <a:ext cx="64008" cy="1234440"/>
          </a:xfrm>
          <a:prstGeom prst="rect">
            <a:avLst/>
          </a:prstGeom>
          <a:solidFill>
            <a:srgbClr val="EA580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8"/>
          <p:cNvSpPr txBox="1"/>
          <p:nvPr/>
        </p:nvSpPr>
        <p:spPr>
          <a:xfrm>
            <a:off x="7744968" y="3044952"/>
            <a:ext cx="3474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Abuse.ch ThreatFox</a:t>
            </a:r>
            <a:endParaRPr/>
          </a:p>
        </p:txBody>
      </p:sp>
      <p:sp>
        <p:nvSpPr>
          <p:cNvPr id="165" name="Google Shape;165;p18"/>
          <p:cNvSpPr txBox="1"/>
          <p:nvPr/>
        </p:nvSpPr>
        <p:spPr>
          <a:xfrm>
            <a:off x="7744968" y="3447288"/>
            <a:ext cx="3474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Indicator source used for malicious infrastructure context.</a:t>
            </a:r>
            <a:endParaRPr/>
          </a:p>
        </p:txBody>
      </p:sp>
      <p:sp>
        <p:nvSpPr>
          <p:cNvPr id="166" name="Google Shape;166;p18"/>
          <p:cNvSpPr/>
          <p:nvPr/>
        </p:nvSpPr>
        <p:spPr>
          <a:xfrm>
            <a:off x="7543800" y="4343400"/>
            <a:ext cx="3840480" cy="1234440"/>
          </a:xfrm>
          <a:prstGeom prst="roundRect">
            <a:avLst>
              <a:gd fmla="val 16667" name="adj"/>
            </a:avLst>
          </a:prstGeom>
          <a:solidFill>
            <a:srgbClr val="0F1E37"/>
          </a:solidFill>
          <a:ln cap="flat" cmpd="sng" w="9525">
            <a:solidFill>
              <a:srgbClr val="1E3A5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8"/>
          <p:cNvSpPr/>
          <p:nvPr/>
        </p:nvSpPr>
        <p:spPr>
          <a:xfrm>
            <a:off x="7543800" y="4343400"/>
            <a:ext cx="64008" cy="1234440"/>
          </a:xfrm>
          <a:prstGeom prst="rect">
            <a:avLst/>
          </a:prstGeom>
          <a:solidFill>
            <a:srgbClr val="0066C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8"/>
          <p:cNvSpPr txBox="1"/>
          <p:nvPr/>
        </p:nvSpPr>
        <p:spPr>
          <a:xfrm>
            <a:off x="7744968" y="4507992"/>
            <a:ext cx="3474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MITRE ATT&amp;CK</a:t>
            </a:r>
            <a:endParaRPr/>
          </a:p>
        </p:txBody>
      </p:sp>
      <p:sp>
        <p:nvSpPr>
          <p:cNvPr id="169" name="Google Shape;169;p18"/>
          <p:cNvSpPr txBox="1"/>
          <p:nvPr/>
        </p:nvSpPr>
        <p:spPr>
          <a:xfrm>
            <a:off x="7744968" y="4910328"/>
            <a:ext cx="3474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Imported knowledge base for adversary behavior and techniques.</a:t>
            </a:r>
            <a:endParaRPr/>
          </a:p>
        </p:txBody>
      </p:sp>
      <p:sp>
        <p:nvSpPr>
          <p:cNvPr id="170" name="Google Shape;170;p18"/>
          <p:cNvSpPr/>
          <p:nvPr/>
        </p:nvSpPr>
        <p:spPr>
          <a:xfrm>
            <a:off x="594360" y="6565392"/>
            <a:ext cx="10972800" cy="10972"/>
          </a:xfrm>
          <a:prstGeom prst="rect">
            <a:avLst/>
          </a:prstGeom>
          <a:solidFill>
            <a:srgbClr val="1E293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8"/>
          <p:cNvSpPr txBox="1"/>
          <p:nvPr/>
        </p:nvSpPr>
        <p:spPr>
          <a:xfrm>
            <a:off x="621792" y="6592824"/>
            <a:ext cx="64008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Threat Intelligence Integration with OpenCTI</a:t>
            </a:r>
            <a:endParaRPr/>
          </a:p>
        </p:txBody>
      </p:sp>
      <p:sp>
        <p:nvSpPr>
          <p:cNvPr id="172" name="Google Shape;172;p18"/>
          <p:cNvSpPr txBox="1"/>
          <p:nvPr/>
        </p:nvSpPr>
        <p:spPr>
          <a:xfrm>
            <a:off x="10698480" y="6592824"/>
            <a:ext cx="8229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71226"/>
        </a:solidFill>
      </p:bgPr>
    </p:bg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9"/>
          <p:cNvSpPr txBox="1"/>
          <p:nvPr/>
        </p:nvSpPr>
        <p:spPr>
          <a:xfrm>
            <a:off x="594360" y="320040"/>
            <a:ext cx="109728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F8FAFC"/>
                </a:solidFill>
                <a:latin typeface="Play"/>
                <a:ea typeface="Play"/>
                <a:cs typeface="Play"/>
                <a:sym typeface="Play"/>
              </a:rPr>
              <a:t>Indicator Analysis</a:t>
            </a:r>
            <a:endParaRPr/>
          </a:p>
        </p:txBody>
      </p:sp>
      <p:sp>
        <p:nvSpPr>
          <p:cNvPr id="178" name="Google Shape;178;p19"/>
          <p:cNvSpPr txBox="1"/>
          <p:nvPr/>
        </p:nvSpPr>
        <p:spPr>
          <a:xfrm>
            <a:off x="621792" y="932688"/>
            <a:ext cx="10698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Example intelligence: 156.229.165.166</a:t>
            </a:r>
            <a:endParaRPr/>
          </a:p>
        </p:txBody>
      </p:sp>
      <p:pic>
        <p:nvPicPr>
          <p:cNvPr descr="Screenshot 2026-09-30 at 10.26.07 PM.png" id="179" name="Google Shape;179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4360" y="2074902"/>
            <a:ext cx="5669280" cy="321111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creenshot 2026-09-30 at 10.25.35 PM.png" id="180" name="Google Shape;180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55080" y="2186300"/>
            <a:ext cx="5257800" cy="2988319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19"/>
          <p:cNvSpPr txBox="1"/>
          <p:nvPr/>
        </p:nvSpPr>
        <p:spPr>
          <a:xfrm>
            <a:off x="777240" y="6144768"/>
            <a:ext cx="10607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Observed context: score 50/100 • ThreatFox | Abuse.ch • TLP:CLEAR • labels: Coinminer, botnet_cc, xmrig</a:t>
            </a:r>
            <a:endParaRPr/>
          </a:p>
        </p:txBody>
      </p:sp>
      <p:sp>
        <p:nvSpPr>
          <p:cNvPr id="182" name="Google Shape;182;p19"/>
          <p:cNvSpPr/>
          <p:nvPr/>
        </p:nvSpPr>
        <p:spPr>
          <a:xfrm>
            <a:off x="594360" y="6565392"/>
            <a:ext cx="10972800" cy="10972"/>
          </a:xfrm>
          <a:prstGeom prst="rect">
            <a:avLst/>
          </a:prstGeom>
          <a:solidFill>
            <a:srgbClr val="1E293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9"/>
          <p:cNvSpPr txBox="1"/>
          <p:nvPr/>
        </p:nvSpPr>
        <p:spPr>
          <a:xfrm>
            <a:off x="621792" y="6592824"/>
            <a:ext cx="64008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Threat Intelligence Integration with OpenCTI</a:t>
            </a:r>
            <a:endParaRPr/>
          </a:p>
        </p:txBody>
      </p:sp>
      <p:sp>
        <p:nvSpPr>
          <p:cNvPr id="184" name="Google Shape;184;p19"/>
          <p:cNvSpPr txBox="1"/>
          <p:nvPr/>
        </p:nvSpPr>
        <p:spPr>
          <a:xfrm>
            <a:off x="10698480" y="6592824"/>
            <a:ext cx="8229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71226"/>
        </a:solidFill>
      </p:bgPr>
    </p:bg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0"/>
          <p:cNvSpPr txBox="1"/>
          <p:nvPr/>
        </p:nvSpPr>
        <p:spPr>
          <a:xfrm>
            <a:off x="594360" y="320040"/>
            <a:ext cx="109728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F8FAFC"/>
                </a:solidFill>
                <a:latin typeface="Play"/>
                <a:ea typeface="Play"/>
                <a:cs typeface="Play"/>
                <a:sym typeface="Play"/>
              </a:rPr>
              <a:t>OpenCTI → Wazuh Enrichment</a:t>
            </a:r>
            <a:endParaRPr/>
          </a:p>
        </p:txBody>
      </p:sp>
      <p:sp>
        <p:nvSpPr>
          <p:cNvPr id="190" name="Google Shape;190;p20"/>
          <p:cNvSpPr txBox="1"/>
          <p:nvPr/>
        </p:nvSpPr>
        <p:spPr>
          <a:xfrm>
            <a:off x="621792" y="932688"/>
            <a:ext cx="10698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Turning CTI into analyst context</a:t>
            </a:r>
            <a:endParaRPr/>
          </a:p>
        </p:txBody>
      </p:sp>
      <p:sp>
        <p:nvSpPr>
          <p:cNvPr id="191" name="Google Shape;191;p20"/>
          <p:cNvSpPr/>
          <p:nvPr/>
        </p:nvSpPr>
        <p:spPr>
          <a:xfrm>
            <a:off x="502920" y="1920240"/>
            <a:ext cx="1828800" cy="1508760"/>
          </a:xfrm>
          <a:prstGeom prst="roundRect">
            <a:avLst>
              <a:gd fmla="val 16667" name="adj"/>
            </a:avLst>
          </a:prstGeom>
          <a:solidFill>
            <a:srgbClr val="0F1E37"/>
          </a:solidFill>
          <a:ln cap="flat" cmpd="sng" w="9525">
            <a:solidFill>
              <a:srgbClr val="1E3A5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20"/>
          <p:cNvSpPr/>
          <p:nvPr/>
        </p:nvSpPr>
        <p:spPr>
          <a:xfrm>
            <a:off x="502920" y="1920240"/>
            <a:ext cx="64008" cy="1508760"/>
          </a:xfrm>
          <a:prstGeom prst="rect">
            <a:avLst/>
          </a:prstGeom>
          <a:solidFill>
            <a:srgbClr val="22D3E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20"/>
          <p:cNvSpPr txBox="1"/>
          <p:nvPr/>
        </p:nvSpPr>
        <p:spPr>
          <a:xfrm>
            <a:off x="704088" y="2084832"/>
            <a:ext cx="1463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OpenCTI</a:t>
            </a:r>
            <a:endParaRPr/>
          </a:p>
        </p:txBody>
      </p:sp>
      <p:sp>
        <p:nvSpPr>
          <p:cNvPr id="194" name="Google Shape;194;p20"/>
          <p:cNvSpPr txBox="1"/>
          <p:nvPr/>
        </p:nvSpPr>
        <p:spPr>
          <a:xfrm>
            <a:off x="704088" y="2487168"/>
            <a:ext cx="1463040" cy="8229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Indicators + context</a:t>
            </a:r>
            <a:endParaRPr/>
          </a:p>
        </p:txBody>
      </p:sp>
      <p:sp>
        <p:nvSpPr>
          <p:cNvPr id="195" name="Google Shape;195;p20"/>
          <p:cNvSpPr/>
          <p:nvPr/>
        </p:nvSpPr>
        <p:spPr>
          <a:xfrm>
            <a:off x="1216152" y="1325880"/>
            <a:ext cx="384048" cy="384048"/>
          </a:xfrm>
          <a:prstGeom prst="ellipse">
            <a:avLst/>
          </a:prstGeom>
          <a:solidFill>
            <a:srgbClr val="22D3E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071226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196" name="Google Shape;196;p20"/>
          <p:cNvSpPr/>
          <p:nvPr/>
        </p:nvSpPr>
        <p:spPr>
          <a:xfrm>
            <a:off x="2377439" y="2423160"/>
            <a:ext cx="502920" cy="411480"/>
          </a:xfrm>
          <a:prstGeom prst="chevron">
            <a:avLst>
              <a:gd fmla="val 50000" name="adj"/>
            </a:avLst>
          </a:prstGeom>
          <a:solidFill>
            <a:srgbClr val="334155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20"/>
          <p:cNvSpPr/>
          <p:nvPr/>
        </p:nvSpPr>
        <p:spPr>
          <a:xfrm>
            <a:off x="2743200" y="1920240"/>
            <a:ext cx="1828800" cy="1508760"/>
          </a:xfrm>
          <a:prstGeom prst="roundRect">
            <a:avLst>
              <a:gd fmla="val 16667" name="adj"/>
            </a:avLst>
          </a:prstGeom>
          <a:solidFill>
            <a:srgbClr val="0F1E37"/>
          </a:solidFill>
          <a:ln cap="flat" cmpd="sng" w="9525">
            <a:solidFill>
              <a:srgbClr val="1E3A5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20"/>
          <p:cNvSpPr/>
          <p:nvPr/>
        </p:nvSpPr>
        <p:spPr>
          <a:xfrm>
            <a:off x="2743200" y="1920240"/>
            <a:ext cx="64008" cy="1508760"/>
          </a:xfrm>
          <a:prstGeom prst="rect">
            <a:avLst/>
          </a:prstGeom>
          <a:solidFill>
            <a:srgbClr val="0066C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20"/>
          <p:cNvSpPr txBox="1"/>
          <p:nvPr/>
        </p:nvSpPr>
        <p:spPr>
          <a:xfrm>
            <a:off x="2944368" y="2084832"/>
            <a:ext cx="1463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Wazuh</a:t>
            </a:r>
            <a:endParaRPr/>
          </a:p>
        </p:txBody>
      </p:sp>
      <p:sp>
        <p:nvSpPr>
          <p:cNvPr id="200" name="Google Shape;200;p20"/>
          <p:cNvSpPr txBox="1"/>
          <p:nvPr/>
        </p:nvSpPr>
        <p:spPr>
          <a:xfrm>
            <a:off x="2944368" y="2487168"/>
            <a:ext cx="1463040" cy="8229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Alert/event</a:t>
            </a:r>
            <a:endParaRPr/>
          </a:p>
        </p:txBody>
      </p:sp>
      <p:sp>
        <p:nvSpPr>
          <p:cNvPr id="201" name="Google Shape;201;p20"/>
          <p:cNvSpPr/>
          <p:nvPr/>
        </p:nvSpPr>
        <p:spPr>
          <a:xfrm>
            <a:off x="3456432" y="1325880"/>
            <a:ext cx="384048" cy="384048"/>
          </a:xfrm>
          <a:prstGeom prst="ellipse">
            <a:avLst/>
          </a:prstGeom>
          <a:solidFill>
            <a:srgbClr val="0066C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071226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202" name="Google Shape;202;p20"/>
          <p:cNvSpPr/>
          <p:nvPr/>
        </p:nvSpPr>
        <p:spPr>
          <a:xfrm>
            <a:off x="4617720" y="2423160"/>
            <a:ext cx="502920" cy="411480"/>
          </a:xfrm>
          <a:prstGeom prst="chevron">
            <a:avLst>
              <a:gd fmla="val 50000" name="adj"/>
            </a:avLst>
          </a:prstGeom>
          <a:solidFill>
            <a:srgbClr val="334155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20"/>
          <p:cNvSpPr/>
          <p:nvPr/>
        </p:nvSpPr>
        <p:spPr>
          <a:xfrm>
            <a:off x="4983480" y="1920240"/>
            <a:ext cx="1828800" cy="1508760"/>
          </a:xfrm>
          <a:prstGeom prst="roundRect">
            <a:avLst>
              <a:gd fmla="val 16667" name="adj"/>
            </a:avLst>
          </a:prstGeom>
          <a:solidFill>
            <a:srgbClr val="0F1E37"/>
          </a:solidFill>
          <a:ln cap="flat" cmpd="sng" w="9525">
            <a:solidFill>
              <a:srgbClr val="1E3A5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20"/>
          <p:cNvSpPr/>
          <p:nvPr/>
        </p:nvSpPr>
        <p:spPr>
          <a:xfrm>
            <a:off x="4983480" y="1920240"/>
            <a:ext cx="64008" cy="1508760"/>
          </a:xfrm>
          <a:prstGeom prst="rect">
            <a:avLst/>
          </a:prstGeom>
          <a:solidFill>
            <a:srgbClr val="EA580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20"/>
          <p:cNvSpPr txBox="1"/>
          <p:nvPr/>
        </p:nvSpPr>
        <p:spPr>
          <a:xfrm>
            <a:off x="5184648" y="2084832"/>
            <a:ext cx="1463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Integrator</a:t>
            </a:r>
            <a:endParaRPr/>
          </a:p>
        </p:txBody>
      </p:sp>
      <p:sp>
        <p:nvSpPr>
          <p:cNvPr id="206" name="Google Shape;206;p20"/>
          <p:cNvSpPr txBox="1"/>
          <p:nvPr/>
        </p:nvSpPr>
        <p:spPr>
          <a:xfrm>
            <a:off x="5184648" y="2487168"/>
            <a:ext cx="1463040" cy="8229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Enrichment script</a:t>
            </a:r>
            <a:endParaRPr/>
          </a:p>
        </p:txBody>
      </p:sp>
      <p:sp>
        <p:nvSpPr>
          <p:cNvPr id="207" name="Google Shape;207;p20"/>
          <p:cNvSpPr/>
          <p:nvPr/>
        </p:nvSpPr>
        <p:spPr>
          <a:xfrm>
            <a:off x="5696712" y="1325880"/>
            <a:ext cx="384048" cy="384048"/>
          </a:xfrm>
          <a:prstGeom prst="ellipse">
            <a:avLst/>
          </a:prstGeom>
          <a:solidFill>
            <a:srgbClr val="EA580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071226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208" name="Google Shape;208;p20"/>
          <p:cNvSpPr/>
          <p:nvPr/>
        </p:nvSpPr>
        <p:spPr>
          <a:xfrm>
            <a:off x="6858000" y="2423160"/>
            <a:ext cx="502920" cy="411480"/>
          </a:xfrm>
          <a:prstGeom prst="chevron">
            <a:avLst>
              <a:gd fmla="val 50000" name="adj"/>
            </a:avLst>
          </a:prstGeom>
          <a:solidFill>
            <a:srgbClr val="334155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20"/>
          <p:cNvSpPr/>
          <p:nvPr/>
        </p:nvSpPr>
        <p:spPr>
          <a:xfrm>
            <a:off x="7223760" y="1920240"/>
            <a:ext cx="1828800" cy="1508760"/>
          </a:xfrm>
          <a:prstGeom prst="roundRect">
            <a:avLst>
              <a:gd fmla="val 16667" name="adj"/>
            </a:avLst>
          </a:prstGeom>
          <a:solidFill>
            <a:srgbClr val="0F1E37"/>
          </a:solidFill>
          <a:ln cap="flat" cmpd="sng" w="9525">
            <a:solidFill>
              <a:srgbClr val="1E3A5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20"/>
          <p:cNvSpPr/>
          <p:nvPr/>
        </p:nvSpPr>
        <p:spPr>
          <a:xfrm>
            <a:off x="7223760" y="1920240"/>
            <a:ext cx="64008" cy="1508760"/>
          </a:xfrm>
          <a:prstGeom prst="rect">
            <a:avLst/>
          </a:prstGeom>
          <a:solidFill>
            <a:srgbClr val="22D3E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20"/>
          <p:cNvSpPr txBox="1"/>
          <p:nvPr/>
        </p:nvSpPr>
        <p:spPr>
          <a:xfrm>
            <a:off x="7424928" y="2084832"/>
            <a:ext cx="1463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OpenCTI API</a:t>
            </a:r>
            <a:endParaRPr/>
          </a:p>
        </p:txBody>
      </p:sp>
      <p:sp>
        <p:nvSpPr>
          <p:cNvPr id="212" name="Google Shape;212;p20"/>
          <p:cNvSpPr txBox="1"/>
          <p:nvPr/>
        </p:nvSpPr>
        <p:spPr>
          <a:xfrm>
            <a:off x="7424928" y="2487168"/>
            <a:ext cx="1463040" cy="8229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Lookup</a:t>
            </a:r>
            <a:endParaRPr/>
          </a:p>
        </p:txBody>
      </p:sp>
      <p:sp>
        <p:nvSpPr>
          <p:cNvPr id="213" name="Google Shape;213;p20"/>
          <p:cNvSpPr/>
          <p:nvPr/>
        </p:nvSpPr>
        <p:spPr>
          <a:xfrm>
            <a:off x="7936992" y="1325880"/>
            <a:ext cx="384048" cy="384048"/>
          </a:xfrm>
          <a:prstGeom prst="ellipse">
            <a:avLst/>
          </a:prstGeom>
          <a:solidFill>
            <a:srgbClr val="22D3E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071226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214" name="Google Shape;214;p20"/>
          <p:cNvSpPr/>
          <p:nvPr/>
        </p:nvSpPr>
        <p:spPr>
          <a:xfrm>
            <a:off x="9098280" y="2423160"/>
            <a:ext cx="502920" cy="411480"/>
          </a:xfrm>
          <a:prstGeom prst="chevron">
            <a:avLst>
              <a:gd fmla="val 50000" name="adj"/>
            </a:avLst>
          </a:prstGeom>
          <a:solidFill>
            <a:srgbClr val="334155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20"/>
          <p:cNvSpPr/>
          <p:nvPr/>
        </p:nvSpPr>
        <p:spPr>
          <a:xfrm>
            <a:off x="9464040" y="1920240"/>
            <a:ext cx="1828800" cy="1508760"/>
          </a:xfrm>
          <a:prstGeom prst="roundRect">
            <a:avLst>
              <a:gd fmla="val 16667" name="adj"/>
            </a:avLst>
          </a:prstGeom>
          <a:solidFill>
            <a:srgbClr val="0F1E37"/>
          </a:solidFill>
          <a:ln cap="flat" cmpd="sng" w="9525">
            <a:solidFill>
              <a:srgbClr val="1E3A5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20"/>
          <p:cNvSpPr/>
          <p:nvPr/>
        </p:nvSpPr>
        <p:spPr>
          <a:xfrm>
            <a:off x="9464040" y="1920240"/>
            <a:ext cx="64008" cy="1508760"/>
          </a:xfrm>
          <a:prstGeom prst="rect">
            <a:avLst/>
          </a:prstGeom>
          <a:solidFill>
            <a:srgbClr val="16A34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20"/>
          <p:cNvSpPr txBox="1"/>
          <p:nvPr/>
        </p:nvSpPr>
        <p:spPr>
          <a:xfrm>
            <a:off x="9665208" y="2084832"/>
            <a:ext cx="1463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Analyst</a:t>
            </a:r>
            <a:endParaRPr/>
          </a:p>
        </p:txBody>
      </p:sp>
      <p:sp>
        <p:nvSpPr>
          <p:cNvPr id="218" name="Google Shape;218;p20"/>
          <p:cNvSpPr txBox="1"/>
          <p:nvPr/>
        </p:nvSpPr>
        <p:spPr>
          <a:xfrm>
            <a:off x="9665208" y="2487168"/>
            <a:ext cx="1463040" cy="8229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CTI-enriched result</a:t>
            </a:r>
            <a:endParaRPr/>
          </a:p>
        </p:txBody>
      </p:sp>
      <p:sp>
        <p:nvSpPr>
          <p:cNvPr id="219" name="Google Shape;219;p20"/>
          <p:cNvSpPr/>
          <p:nvPr/>
        </p:nvSpPr>
        <p:spPr>
          <a:xfrm>
            <a:off x="10177272" y="1325880"/>
            <a:ext cx="384048" cy="384048"/>
          </a:xfrm>
          <a:prstGeom prst="ellipse">
            <a:avLst/>
          </a:prstGeom>
          <a:solidFill>
            <a:srgbClr val="16A34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071226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220" name="Google Shape;220;p20"/>
          <p:cNvSpPr txBox="1"/>
          <p:nvPr/>
        </p:nvSpPr>
        <p:spPr>
          <a:xfrm>
            <a:off x="822960" y="4069080"/>
            <a:ext cx="10515600" cy="1737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• Controlled alert test successfully queried OpenCTI and returned CTI context for 156.229.165.166.</a:t>
            </a:r>
            <a:endParaRPr/>
          </a:p>
          <a:p>
            <a:pPr indent="0" lvl="0" marL="0" marR="0" rtl="0" algn="l">
              <a:spcBef>
                <a:spcPts val="11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• Enrichment output included source/context, labels and score.</a:t>
            </a:r>
            <a:endParaRPr/>
          </a:p>
          <a:p>
            <a:pPr indent="0" lvl="0" marL="0" marR="0" rtl="0" algn="l">
              <a:spcBef>
                <a:spcPts val="11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• Live custom IOC alerting remained a documented limitation; no live IOC match is claimed.</a:t>
            </a:r>
            <a:endParaRPr/>
          </a:p>
        </p:txBody>
      </p:sp>
      <p:sp>
        <p:nvSpPr>
          <p:cNvPr id="221" name="Google Shape;221;p20"/>
          <p:cNvSpPr/>
          <p:nvPr/>
        </p:nvSpPr>
        <p:spPr>
          <a:xfrm>
            <a:off x="594360" y="6565392"/>
            <a:ext cx="10972800" cy="10972"/>
          </a:xfrm>
          <a:prstGeom prst="rect">
            <a:avLst/>
          </a:prstGeom>
          <a:solidFill>
            <a:srgbClr val="1E293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20"/>
          <p:cNvSpPr txBox="1"/>
          <p:nvPr/>
        </p:nvSpPr>
        <p:spPr>
          <a:xfrm>
            <a:off x="621792" y="6592824"/>
            <a:ext cx="64008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Threat Intelligence Integration with OpenCTI</a:t>
            </a:r>
            <a:endParaRPr/>
          </a:p>
        </p:txBody>
      </p:sp>
      <p:sp>
        <p:nvSpPr>
          <p:cNvPr id="223" name="Google Shape;223;p20"/>
          <p:cNvSpPr txBox="1"/>
          <p:nvPr/>
        </p:nvSpPr>
        <p:spPr>
          <a:xfrm>
            <a:off x="10698480" y="6592824"/>
            <a:ext cx="8229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71226"/>
        </a:solidFill>
      </p:bgPr>
    </p:bg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21"/>
          <p:cNvSpPr txBox="1"/>
          <p:nvPr/>
        </p:nvSpPr>
        <p:spPr>
          <a:xfrm>
            <a:off x="594360" y="320040"/>
            <a:ext cx="109728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F8FAFC"/>
                </a:solidFill>
                <a:latin typeface="Play"/>
                <a:ea typeface="Play"/>
                <a:cs typeface="Play"/>
                <a:sym typeface="Play"/>
              </a:rPr>
              <a:t>Baseline Detection</a:t>
            </a:r>
            <a:endParaRPr/>
          </a:p>
        </p:txBody>
      </p:sp>
      <p:sp>
        <p:nvSpPr>
          <p:cNvPr id="229" name="Google Shape;229;p21"/>
          <p:cNvSpPr txBox="1"/>
          <p:nvPr/>
        </p:nvSpPr>
        <p:spPr>
          <a:xfrm>
            <a:off x="621792" y="932688"/>
            <a:ext cx="10698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Scheduled Task detection before improvement</a:t>
            </a:r>
            <a:endParaRPr/>
          </a:p>
        </p:txBody>
      </p:sp>
      <p:pic>
        <p:nvPicPr>
          <p:cNvPr descr="Screenshot 2026-09-30 at 11.36.48 PM.png" id="230" name="Google Shape;230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4359" y="2173039"/>
            <a:ext cx="5623560" cy="287768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creenshot 2026-09-30 at 11.37.01 PM.png" id="231" name="Google Shape;231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09360" y="2245861"/>
            <a:ext cx="5303520" cy="2732037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21"/>
          <p:cNvSpPr txBox="1"/>
          <p:nvPr/>
        </p:nvSpPr>
        <p:spPr>
          <a:xfrm>
            <a:off x="731520" y="6062472"/>
            <a:ext cx="10698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EA580C"/>
                </a:solidFill>
                <a:latin typeface="Calibri"/>
                <a:ea typeface="Calibri"/>
                <a:cs typeface="Calibri"/>
                <a:sym typeface="Calibri"/>
              </a:rPr>
              <a:t>Rule 100400 • Level 8 • schtasks.exe + /create • MITRE T1053.005</a:t>
            </a:r>
            <a:endParaRPr/>
          </a:p>
        </p:txBody>
      </p:sp>
      <p:sp>
        <p:nvSpPr>
          <p:cNvPr id="233" name="Google Shape;233;p21"/>
          <p:cNvSpPr/>
          <p:nvPr/>
        </p:nvSpPr>
        <p:spPr>
          <a:xfrm>
            <a:off x="594360" y="6565392"/>
            <a:ext cx="10972800" cy="10972"/>
          </a:xfrm>
          <a:prstGeom prst="rect">
            <a:avLst/>
          </a:prstGeom>
          <a:solidFill>
            <a:srgbClr val="1E293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21"/>
          <p:cNvSpPr txBox="1"/>
          <p:nvPr/>
        </p:nvSpPr>
        <p:spPr>
          <a:xfrm>
            <a:off x="621792" y="6592824"/>
            <a:ext cx="64008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Threat Intelligence Integration with OpenCTI</a:t>
            </a:r>
            <a:endParaRPr/>
          </a:p>
        </p:txBody>
      </p:sp>
      <p:sp>
        <p:nvSpPr>
          <p:cNvPr id="235" name="Google Shape;235;p21"/>
          <p:cNvSpPr txBox="1"/>
          <p:nvPr/>
        </p:nvSpPr>
        <p:spPr>
          <a:xfrm>
            <a:off x="10698480" y="6592824"/>
            <a:ext cx="8229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71226"/>
        </a:solidFill>
      </p:bgPr>
    </p:bg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22"/>
          <p:cNvSpPr txBox="1"/>
          <p:nvPr/>
        </p:nvSpPr>
        <p:spPr>
          <a:xfrm>
            <a:off x="594360" y="320040"/>
            <a:ext cx="109728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F8FAFC"/>
                </a:solidFill>
                <a:latin typeface="Play"/>
                <a:ea typeface="Play"/>
                <a:cs typeface="Play"/>
                <a:sym typeface="Play"/>
              </a:rPr>
              <a:t>CTI/ATT&amp;CK-Informed Improvement</a:t>
            </a:r>
            <a:endParaRPr/>
          </a:p>
        </p:txBody>
      </p:sp>
      <p:sp>
        <p:nvSpPr>
          <p:cNvPr id="241" name="Google Shape;241;p22"/>
          <p:cNvSpPr txBox="1"/>
          <p:nvPr/>
        </p:nvSpPr>
        <p:spPr>
          <a:xfrm>
            <a:off x="621792" y="932688"/>
            <a:ext cx="10698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Adding PowerShell parent-process context</a:t>
            </a:r>
            <a:endParaRPr/>
          </a:p>
        </p:txBody>
      </p:sp>
      <p:pic>
        <p:nvPicPr>
          <p:cNvPr descr="Screenshot 2026-09-30 at 11.35.54 PM.png" id="242" name="Google Shape;242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4359" y="2163908"/>
            <a:ext cx="5623560" cy="285022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creenshot 2026-09-30 at 11.35.40 PM.png" id="243" name="Google Shape;243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09360" y="2219116"/>
            <a:ext cx="5303520" cy="2739806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22"/>
          <p:cNvSpPr/>
          <p:nvPr/>
        </p:nvSpPr>
        <p:spPr>
          <a:xfrm>
            <a:off x="1005850" y="5715000"/>
            <a:ext cx="3017400" cy="738000"/>
          </a:xfrm>
          <a:prstGeom prst="roundRect">
            <a:avLst>
              <a:gd fmla="val 16667" name="adj"/>
            </a:avLst>
          </a:prstGeom>
          <a:solidFill>
            <a:srgbClr val="0F1E37"/>
          </a:solidFill>
          <a:ln cap="flat" cmpd="sng" w="9525">
            <a:solidFill>
              <a:srgbClr val="1E3A5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22"/>
          <p:cNvSpPr/>
          <p:nvPr/>
        </p:nvSpPr>
        <p:spPr>
          <a:xfrm>
            <a:off x="1005840" y="5715000"/>
            <a:ext cx="64008" cy="566928"/>
          </a:xfrm>
          <a:prstGeom prst="rect">
            <a:avLst/>
          </a:prstGeom>
          <a:solidFill>
            <a:srgbClr val="0066C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22"/>
          <p:cNvSpPr txBox="1"/>
          <p:nvPr/>
        </p:nvSpPr>
        <p:spPr>
          <a:xfrm>
            <a:off x="1207008" y="5879592"/>
            <a:ext cx="26517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100400 → 100600</a:t>
            </a:r>
            <a:endParaRPr/>
          </a:p>
        </p:txBody>
      </p:sp>
      <p:sp>
        <p:nvSpPr>
          <p:cNvPr id="247" name="Google Shape;247;p22"/>
          <p:cNvSpPr txBox="1"/>
          <p:nvPr/>
        </p:nvSpPr>
        <p:spPr>
          <a:xfrm flipH="1">
            <a:off x="2123050" y="6158777"/>
            <a:ext cx="18438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Hig</a:t>
            </a:r>
            <a:r>
              <a:rPr b="0" i="0" lang="en-US" sz="110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he</a:t>
            </a:r>
            <a:r>
              <a:rPr b="0" i="0" lang="en-US" sz="110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r-context detection</a:t>
            </a:r>
            <a:endParaRPr/>
          </a:p>
        </p:txBody>
      </p:sp>
      <p:sp>
        <p:nvSpPr>
          <p:cNvPr id="248" name="Google Shape;248;p22"/>
          <p:cNvSpPr/>
          <p:nvPr/>
        </p:nvSpPr>
        <p:spPr>
          <a:xfrm>
            <a:off x="4526275" y="5715000"/>
            <a:ext cx="3017400" cy="738000"/>
          </a:xfrm>
          <a:prstGeom prst="roundRect">
            <a:avLst>
              <a:gd fmla="val 16667" name="adj"/>
            </a:avLst>
          </a:prstGeom>
          <a:solidFill>
            <a:srgbClr val="0F1E37"/>
          </a:solidFill>
          <a:ln cap="flat" cmpd="sng" w="9525">
            <a:solidFill>
              <a:srgbClr val="1E3A5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22"/>
          <p:cNvSpPr/>
          <p:nvPr/>
        </p:nvSpPr>
        <p:spPr>
          <a:xfrm>
            <a:off x="4526280" y="5715000"/>
            <a:ext cx="64008" cy="566928"/>
          </a:xfrm>
          <a:prstGeom prst="rect">
            <a:avLst/>
          </a:prstGeom>
          <a:solidFill>
            <a:srgbClr val="22D3E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22"/>
          <p:cNvSpPr txBox="1"/>
          <p:nvPr/>
        </p:nvSpPr>
        <p:spPr>
          <a:xfrm>
            <a:off x="4727448" y="5879592"/>
            <a:ext cx="26517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ATT&amp;CK</a:t>
            </a:r>
            <a:endParaRPr/>
          </a:p>
        </p:txBody>
      </p:sp>
      <p:sp>
        <p:nvSpPr>
          <p:cNvPr id="251" name="Google Shape;251;p22"/>
          <p:cNvSpPr txBox="1"/>
          <p:nvPr/>
        </p:nvSpPr>
        <p:spPr>
          <a:xfrm flipH="1">
            <a:off x="5497200" y="6091700"/>
            <a:ext cx="18438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T1053.005 + T1059.001</a:t>
            </a:r>
            <a:endParaRPr/>
          </a:p>
        </p:txBody>
      </p:sp>
      <p:sp>
        <p:nvSpPr>
          <p:cNvPr id="252" name="Google Shape;252;p22"/>
          <p:cNvSpPr/>
          <p:nvPr/>
        </p:nvSpPr>
        <p:spPr>
          <a:xfrm>
            <a:off x="8046725" y="5715000"/>
            <a:ext cx="3017400" cy="738000"/>
          </a:xfrm>
          <a:prstGeom prst="roundRect">
            <a:avLst>
              <a:gd fmla="val 16667" name="adj"/>
            </a:avLst>
          </a:prstGeom>
          <a:solidFill>
            <a:srgbClr val="0F1E37"/>
          </a:solidFill>
          <a:ln cap="flat" cmpd="sng" w="9525">
            <a:solidFill>
              <a:srgbClr val="1E3A5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22"/>
          <p:cNvSpPr/>
          <p:nvPr/>
        </p:nvSpPr>
        <p:spPr>
          <a:xfrm>
            <a:off x="8046720" y="5715000"/>
            <a:ext cx="64008" cy="566928"/>
          </a:xfrm>
          <a:prstGeom prst="rect">
            <a:avLst/>
          </a:prstGeom>
          <a:solidFill>
            <a:srgbClr val="16A34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22"/>
          <p:cNvSpPr txBox="1"/>
          <p:nvPr/>
        </p:nvSpPr>
        <p:spPr>
          <a:xfrm>
            <a:off x="8247888" y="5879592"/>
            <a:ext cx="26517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LEVEL</a:t>
            </a:r>
            <a:endParaRPr/>
          </a:p>
        </p:txBody>
      </p:sp>
      <p:sp>
        <p:nvSpPr>
          <p:cNvPr id="255" name="Google Shape;255;p22"/>
          <p:cNvSpPr txBox="1"/>
          <p:nvPr/>
        </p:nvSpPr>
        <p:spPr>
          <a:xfrm flipH="1">
            <a:off x="10253100" y="6091688"/>
            <a:ext cx="6465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8 → 12</a:t>
            </a:r>
            <a:endParaRPr/>
          </a:p>
        </p:txBody>
      </p:sp>
      <p:sp>
        <p:nvSpPr>
          <p:cNvPr id="256" name="Google Shape;256;p22"/>
          <p:cNvSpPr/>
          <p:nvPr/>
        </p:nvSpPr>
        <p:spPr>
          <a:xfrm>
            <a:off x="594360" y="6565392"/>
            <a:ext cx="10972800" cy="10972"/>
          </a:xfrm>
          <a:prstGeom prst="rect">
            <a:avLst/>
          </a:prstGeom>
          <a:solidFill>
            <a:srgbClr val="1E293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22"/>
          <p:cNvSpPr txBox="1"/>
          <p:nvPr/>
        </p:nvSpPr>
        <p:spPr>
          <a:xfrm>
            <a:off x="621792" y="6592824"/>
            <a:ext cx="64008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Threat Intelligence Integration with OpenCTI</a:t>
            </a:r>
            <a:endParaRPr/>
          </a:p>
        </p:txBody>
      </p:sp>
      <p:sp>
        <p:nvSpPr>
          <p:cNvPr id="258" name="Google Shape;258;p22"/>
          <p:cNvSpPr txBox="1"/>
          <p:nvPr/>
        </p:nvSpPr>
        <p:spPr>
          <a:xfrm>
            <a:off x="10698480" y="6592824"/>
            <a:ext cx="8229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71226"/>
        </a:solidFill>
      </p:bgPr>
    </p:bg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23"/>
          <p:cNvSpPr txBox="1"/>
          <p:nvPr/>
        </p:nvSpPr>
        <p:spPr>
          <a:xfrm>
            <a:off x="594360" y="320040"/>
            <a:ext cx="109728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F8FAFC"/>
                </a:solidFill>
                <a:latin typeface="Play"/>
                <a:ea typeface="Play"/>
                <a:cs typeface="Play"/>
                <a:sym typeface="Play"/>
              </a:rPr>
              <a:t>Detection Engineering — Before vs After</a:t>
            </a:r>
            <a:endParaRPr/>
          </a:p>
        </p:txBody>
      </p:sp>
      <p:sp>
        <p:nvSpPr>
          <p:cNvPr id="264" name="Google Shape;264;p23"/>
          <p:cNvSpPr txBox="1"/>
          <p:nvPr/>
        </p:nvSpPr>
        <p:spPr>
          <a:xfrm>
            <a:off x="621792" y="932688"/>
            <a:ext cx="10698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What changed and why it matters</a:t>
            </a:r>
            <a:endParaRPr/>
          </a:p>
        </p:txBody>
      </p:sp>
      <p:sp>
        <p:nvSpPr>
          <p:cNvPr id="265" name="Google Shape;265;p23"/>
          <p:cNvSpPr/>
          <p:nvPr/>
        </p:nvSpPr>
        <p:spPr>
          <a:xfrm>
            <a:off x="914400" y="1417320"/>
            <a:ext cx="2834640" cy="548640"/>
          </a:xfrm>
          <a:prstGeom prst="roundRect">
            <a:avLst>
              <a:gd fmla="val 16667" name="adj"/>
            </a:avLst>
          </a:prstGeom>
          <a:solidFill>
            <a:srgbClr val="1E293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300" u="none" cap="none" strike="noStrike">
              <a:solidFill>
                <a:srgbClr val="F8FAF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23"/>
          <p:cNvSpPr/>
          <p:nvPr/>
        </p:nvSpPr>
        <p:spPr>
          <a:xfrm>
            <a:off x="3749039" y="1417320"/>
            <a:ext cx="3383280" cy="548640"/>
          </a:xfrm>
          <a:prstGeom prst="roundRect">
            <a:avLst>
              <a:gd fmla="val 16667" name="adj"/>
            </a:avLst>
          </a:prstGeom>
          <a:solidFill>
            <a:srgbClr val="0066C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BASELINE</a:t>
            </a:r>
            <a:endParaRPr/>
          </a:p>
        </p:txBody>
      </p:sp>
      <p:sp>
        <p:nvSpPr>
          <p:cNvPr id="267" name="Google Shape;267;p23"/>
          <p:cNvSpPr/>
          <p:nvPr/>
        </p:nvSpPr>
        <p:spPr>
          <a:xfrm>
            <a:off x="7132320" y="1417320"/>
            <a:ext cx="4114800" cy="548640"/>
          </a:xfrm>
          <a:prstGeom prst="roundRect">
            <a:avLst>
              <a:gd fmla="val 16667" name="adj"/>
            </a:avLst>
          </a:prstGeom>
          <a:solidFill>
            <a:srgbClr val="0066C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IMPROVED</a:t>
            </a:r>
            <a:endParaRPr/>
          </a:p>
        </p:txBody>
      </p:sp>
      <p:sp>
        <p:nvSpPr>
          <p:cNvPr id="268" name="Google Shape;268;p23"/>
          <p:cNvSpPr/>
          <p:nvPr/>
        </p:nvSpPr>
        <p:spPr>
          <a:xfrm>
            <a:off x="914400" y="2075688"/>
            <a:ext cx="2834640" cy="640080"/>
          </a:xfrm>
          <a:prstGeom prst="rect">
            <a:avLst/>
          </a:prstGeom>
          <a:solidFill>
            <a:srgbClr val="0F1E37"/>
          </a:solidFill>
          <a:ln cap="flat" cmpd="sng" w="9525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Rule</a:t>
            </a:r>
            <a:endParaRPr/>
          </a:p>
        </p:txBody>
      </p:sp>
      <p:sp>
        <p:nvSpPr>
          <p:cNvPr id="269" name="Google Shape;269;p23"/>
          <p:cNvSpPr/>
          <p:nvPr/>
        </p:nvSpPr>
        <p:spPr>
          <a:xfrm>
            <a:off x="3749039" y="2075688"/>
            <a:ext cx="3383280" cy="640080"/>
          </a:xfrm>
          <a:prstGeom prst="rect">
            <a:avLst/>
          </a:prstGeom>
          <a:solidFill>
            <a:srgbClr val="142843"/>
          </a:solidFill>
          <a:ln cap="flat" cmpd="sng" w="9525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100400</a:t>
            </a:r>
            <a:endParaRPr/>
          </a:p>
        </p:txBody>
      </p:sp>
      <p:sp>
        <p:nvSpPr>
          <p:cNvPr id="270" name="Google Shape;270;p23"/>
          <p:cNvSpPr/>
          <p:nvPr/>
        </p:nvSpPr>
        <p:spPr>
          <a:xfrm>
            <a:off x="7132320" y="2075688"/>
            <a:ext cx="4114800" cy="640080"/>
          </a:xfrm>
          <a:prstGeom prst="rect">
            <a:avLst/>
          </a:prstGeom>
          <a:solidFill>
            <a:srgbClr val="142843"/>
          </a:solidFill>
          <a:ln cap="flat" cmpd="sng" w="9525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100600</a:t>
            </a:r>
            <a:endParaRPr/>
          </a:p>
        </p:txBody>
      </p:sp>
      <p:sp>
        <p:nvSpPr>
          <p:cNvPr id="271" name="Google Shape;271;p23"/>
          <p:cNvSpPr/>
          <p:nvPr/>
        </p:nvSpPr>
        <p:spPr>
          <a:xfrm>
            <a:off x="914400" y="2834640"/>
            <a:ext cx="2834640" cy="640080"/>
          </a:xfrm>
          <a:prstGeom prst="rect">
            <a:avLst/>
          </a:prstGeom>
          <a:solidFill>
            <a:srgbClr val="0F1E37"/>
          </a:solidFill>
          <a:ln cap="flat" cmpd="sng" w="9525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Level</a:t>
            </a:r>
            <a:endParaRPr/>
          </a:p>
        </p:txBody>
      </p:sp>
      <p:sp>
        <p:nvSpPr>
          <p:cNvPr id="272" name="Google Shape;272;p23"/>
          <p:cNvSpPr/>
          <p:nvPr/>
        </p:nvSpPr>
        <p:spPr>
          <a:xfrm>
            <a:off x="3749039" y="2834640"/>
            <a:ext cx="3383280" cy="640080"/>
          </a:xfrm>
          <a:prstGeom prst="rect">
            <a:avLst/>
          </a:prstGeom>
          <a:solidFill>
            <a:srgbClr val="142843"/>
          </a:solidFill>
          <a:ln cap="flat" cmpd="sng" w="9525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  <p:sp>
        <p:nvSpPr>
          <p:cNvPr id="273" name="Google Shape;273;p23"/>
          <p:cNvSpPr/>
          <p:nvPr/>
        </p:nvSpPr>
        <p:spPr>
          <a:xfrm>
            <a:off x="7132320" y="2834640"/>
            <a:ext cx="4114800" cy="640080"/>
          </a:xfrm>
          <a:prstGeom prst="rect">
            <a:avLst/>
          </a:prstGeom>
          <a:solidFill>
            <a:srgbClr val="142843"/>
          </a:solidFill>
          <a:ln cap="flat" cmpd="sng" w="9525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endParaRPr/>
          </a:p>
        </p:txBody>
      </p:sp>
      <p:sp>
        <p:nvSpPr>
          <p:cNvPr id="274" name="Google Shape;274;p23"/>
          <p:cNvSpPr/>
          <p:nvPr/>
        </p:nvSpPr>
        <p:spPr>
          <a:xfrm>
            <a:off x="914400" y="3593591"/>
            <a:ext cx="2834640" cy="640080"/>
          </a:xfrm>
          <a:prstGeom prst="rect">
            <a:avLst/>
          </a:prstGeom>
          <a:solidFill>
            <a:srgbClr val="0F1E37"/>
          </a:solidFill>
          <a:ln cap="flat" cmpd="sng" w="9525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Trigger</a:t>
            </a:r>
            <a:endParaRPr/>
          </a:p>
        </p:txBody>
      </p:sp>
      <p:sp>
        <p:nvSpPr>
          <p:cNvPr id="275" name="Google Shape;275;p23"/>
          <p:cNvSpPr/>
          <p:nvPr/>
        </p:nvSpPr>
        <p:spPr>
          <a:xfrm>
            <a:off x="3749039" y="3593591"/>
            <a:ext cx="3383280" cy="640080"/>
          </a:xfrm>
          <a:prstGeom prst="rect">
            <a:avLst/>
          </a:prstGeom>
          <a:solidFill>
            <a:srgbClr val="142843"/>
          </a:solidFill>
          <a:ln cap="flat" cmpd="sng" w="9525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schtasks.exe /create</a:t>
            </a:r>
            <a:endParaRPr/>
          </a:p>
        </p:txBody>
      </p:sp>
      <p:sp>
        <p:nvSpPr>
          <p:cNvPr id="276" name="Google Shape;276;p23"/>
          <p:cNvSpPr/>
          <p:nvPr/>
        </p:nvSpPr>
        <p:spPr>
          <a:xfrm>
            <a:off x="7132320" y="3593591"/>
            <a:ext cx="4114800" cy="640080"/>
          </a:xfrm>
          <a:prstGeom prst="rect">
            <a:avLst/>
          </a:prstGeom>
          <a:solidFill>
            <a:srgbClr val="142843"/>
          </a:solidFill>
          <a:ln cap="flat" cmpd="sng" w="9525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schtasks.exe /create + PowerShell parent</a:t>
            </a:r>
            <a:endParaRPr/>
          </a:p>
        </p:txBody>
      </p:sp>
      <p:sp>
        <p:nvSpPr>
          <p:cNvPr id="277" name="Google Shape;277;p23"/>
          <p:cNvSpPr/>
          <p:nvPr/>
        </p:nvSpPr>
        <p:spPr>
          <a:xfrm>
            <a:off x="914400" y="4352544"/>
            <a:ext cx="2834640" cy="640080"/>
          </a:xfrm>
          <a:prstGeom prst="rect">
            <a:avLst/>
          </a:prstGeom>
          <a:solidFill>
            <a:srgbClr val="0F1E37"/>
          </a:solidFill>
          <a:ln cap="flat" cmpd="sng" w="9525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ATT&amp;CK</a:t>
            </a:r>
            <a:endParaRPr/>
          </a:p>
        </p:txBody>
      </p:sp>
      <p:sp>
        <p:nvSpPr>
          <p:cNvPr id="278" name="Google Shape;278;p23"/>
          <p:cNvSpPr/>
          <p:nvPr/>
        </p:nvSpPr>
        <p:spPr>
          <a:xfrm>
            <a:off x="3749039" y="4352544"/>
            <a:ext cx="3383280" cy="640080"/>
          </a:xfrm>
          <a:prstGeom prst="rect">
            <a:avLst/>
          </a:prstGeom>
          <a:solidFill>
            <a:srgbClr val="142843"/>
          </a:solidFill>
          <a:ln cap="flat" cmpd="sng" w="9525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T1053.005</a:t>
            </a:r>
            <a:endParaRPr/>
          </a:p>
        </p:txBody>
      </p:sp>
      <p:sp>
        <p:nvSpPr>
          <p:cNvPr id="279" name="Google Shape;279;p23"/>
          <p:cNvSpPr/>
          <p:nvPr/>
        </p:nvSpPr>
        <p:spPr>
          <a:xfrm>
            <a:off x="7132320" y="4352544"/>
            <a:ext cx="4114800" cy="640080"/>
          </a:xfrm>
          <a:prstGeom prst="rect">
            <a:avLst/>
          </a:prstGeom>
          <a:solidFill>
            <a:srgbClr val="142843"/>
          </a:solidFill>
          <a:ln cap="flat" cmpd="sng" w="9525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T1053.005 + T1059.001</a:t>
            </a:r>
            <a:endParaRPr/>
          </a:p>
        </p:txBody>
      </p:sp>
      <p:sp>
        <p:nvSpPr>
          <p:cNvPr id="280" name="Google Shape;280;p23"/>
          <p:cNvSpPr/>
          <p:nvPr/>
        </p:nvSpPr>
        <p:spPr>
          <a:xfrm>
            <a:off x="914400" y="5111496"/>
            <a:ext cx="2834640" cy="640080"/>
          </a:xfrm>
          <a:prstGeom prst="rect">
            <a:avLst/>
          </a:prstGeom>
          <a:solidFill>
            <a:srgbClr val="0F1E37"/>
          </a:solidFill>
          <a:ln cap="flat" cmpd="sng" w="9525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Context</a:t>
            </a:r>
            <a:endParaRPr/>
          </a:p>
        </p:txBody>
      </p:sp>
      <p:sp>
        <p:nvSpPr>
          <p:cNvPr id="281" name="Google Shape;281;p23"/>
          <p:cNvSpPr/>
          <p:nvPr/>
        </p:nvSpPr>
        <p:spPr>
          <a:xfrm>
            <a:off x="3749039" y="5111496"/>
            <a:ext cx="3383280" cy="640080"/>
          </a:xfrm>
          <a:prstGeom prst="rect">
            <a:avLst/>
          </a:prstGeom>
          <a:solidFill>
            <a:srgbClr val="142843"/>
          </a:solidFill>
          <a:ln cap="flat" cmpd="sng" w="9525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Scheduled task</a:t>
            </a:r>
            <a:endParaRPr/>
          </a:p>
        </p:txBody>
      </p:sp>
      <p:sp>
        <p:nvSpPr>
          <p:cNvPr id="282" name="Google Shape;282;p23"/>
          <p:cNvSpPr/>
          <p:nvPr/>
        </p:nvSpPr>
        <p:spPr>
          <a:xfrm>
            <a:off x="7132320" y="5111496"/>
            <a:ext cx="4114800" cy="640080"/>
          </a:xfrm>
          <a:prstGeom prst="rect">
            <a:avLst/>
          </a:prstGeom>
          <a:solidFill>
            <a:srgbClr val="142843"/>
          </a:solidFill>
          <a:ln cap="flat" cmpd="sng" w="9525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Scheduled task + PowerShell</a:t>
            </a:r>
            <a:endParaRPr/>
          </a:p>
        </p:txBody>
      </p:sp>
      <p:sp>
        <p:nvSpPr>
          <p:cNvPr id="283" name="Google Shape;283;p23"/>
          <p:cNvSpPr txBox="1"/>
          <p:nvPr/>
        </p:nvSpPr>
        <p:spPr>
          <a:xfrm>
            <a:off x="914450" y="5841684"/>
            <a:ext cx="10332600" cy="63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• The improvement adds parent-process context instead of treating every scheduled task as equally suspicious.</a:t>
            </a:r>
            <a:endParaRPr/>
          </a:p>
          <a:p>
            <a:pPr indent="0" lvl="0" marL="0" marR="0" rtl="0" algn="l">
              <a:spcBef>
                <a:spcPts val="11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• Validation used controlled manual scheduled-task simulation; Atomic Red Team was not used for the final test.</a:t>
            </a:r>
            <a:endParaRPr/>
          </a:p>
        </p:txBody>
      </p:sp>
      <p:sp>
        <p:nvSpPr>
          <p:cNvPr id="284" name="Google Shape;284;p23"/>
          <p:cNvSpPr/>
          <p:nvPr/>
        </p:nvSpPr>
        <p:spPr>
          <a:xfrm>
            <a:off x="594360" y="6565392"/>
            <a:ext cx="10972800" cy="10972"/>
          </a:xfrm>
          <a:prstGeom prst="rect">
            <a:avLst/>
          </a:prstGeom>
          <a:solidFill>
            <a:srgbClr val="1E293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23"/>
          <p:cNvSpPr txBox="1"/>
          <p:nvPr/>
        </p:nvSpPr>
        <p:spPr>
          <a:xfrm>
            <a:off x="621792" y="6592824"/>
            <a:ext cx="64008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Threat Intelligence Integration with OpenCTI</a:t>
            </a:r>
            <a:endParaRPr/>
          </a:p>
        </p:txBody>
      </p:sp>
      <p:sp>
        <p:nvSpPr>
          <p:cNvPr id="286" name="Google Shape;286;p23"/>
          <p:cNvSpPr txBox="1"/>
          <p:nvPr/>
        </p:nvSpPr>
        <p:spPr>
          <a:xfrm>
            <a:off x="10698480" y="6592824"/>
            <a:ext cx="8229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71226"/>
        </a:solidFill>
      </p:bgPr>
    </p:bg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24"/>
          <p:cNvSpPr txBox="1"/>
          <p:nvPr/>
        </p:nvSpPr>
        <p:spPr>
          <a:xfrm>
            <a:off x="594360" y="320040"/>
            <a:ext cx="109728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F8FAFC"/>
                </a:solidFill>
                <a:latin typeface="Play"/>
                <a:ea typeface="Play"/>
                <a:cs typeface="Play"/>
                <a:sym typeface="Play"/>
              </a:rPr>
              <a:t>Results, Challenges &amp; Lessons</a:t>
            </a:r>
            <a:endParaRPr/>
          </a:p>
        </p:txBody>
      </p:sp>
      <p:sp>
        <p:nvSpPr>
          <p:cNvPr id="292" name="Google Shape;292;p24"/>
          <p:cNvSpPr txBox="1"/>
          <p:nvPr/>
        </p:nvSpPr>
        <p:spPr>
          <a:xfrm>
            <a:off x="621792" y="932688"/>
            <a:ext cx="10698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What the project demonstrated</a:t>
            </a:r>
            <a:endParaRPr/>
          </a:p>
        </p:txBody>
      </p:sp>
      <p:sp>
        <p:nvSpPr>
          <p:cNvPr id="293" name="Google Shape;293;p24"/>
          <p:cNvSpPr/>
          <p:nvPr/>
        </p:nvSpPr>
        <p:spPr>
          <a:xfrm>
            <a:off x="640080" y="1325880"/>
            <a:ext cx="3429000" cy="1828800"/>
          </a:xfrm>
          <a:prstGeom prst="roundRect">
            <a:avLst>
              <a:gd fmla="val 16667" name="adj"/>
            </a:avLst>
          </a:prstGeom>
          <a:solidFill>
            <a:srgbClr val="0F1E37"/>
          </a:solidFill>
          <a:ln cap="flat" cmpd="sng" w="9525">
            <a:solidFill>
              <a:srgbClr val="1E3A5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24"/>
          <p:cNvSpPr/>
          <p:nvPr/>
        </p:nvSpPr>
        <p:spPr>
          <a:xfrm>
            <a:off x="640080" y="1325880"/>
            <a:ext cx="64008" cy="1828800"/>
          </a:xfrm>
          <a:prstGeom prst="rect">
            <a:avLst/>
          </a:prstGeom>
          <a:solidFill>
            <a:srgbClr val="16A34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24"/>
          <p:cNvSpPr txBox="1"/>
          <p:nvPr/>
        </p:nvSpPr>
        <p:spPr>
          <a:xfrm>
            <a:off x="841247" y="1490472"/>
            <a:ext cx="3063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RESULT</a:t>
            </a:r>
            <a:endParaRPr/>
          </a:p>
        </p:txBody>
      </p:sp>
      <p:sp>
        <p:nvSpPr>
          <p:cNvPr id="296" name="Google Shape;296;p24"/>
          <p:cNvSpPr txBox="1"/>
          <p:nvPr/>
        </p:nvSpPr>
        <p:spPr>
          <a:xfrm>
            <a:off x="841247" y="1892807"/>
            <a:ext cx="306324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OpenCTI deployed and populated with external CTI and MITRE ATT&amp;CK.</a:t>
            </a:r>
            <a:endParaRPr/>
          </a:p>
        </p:txBody>
      </p:sp>
      <p:sp>
        <p:nvSpPr>
          <p:cNvPr id="297" name="Google Shape;297;p24"/>
          <p:cNvSpPr/>
          <p:nvPr/>
        </p:nvSpPr>
        <p:spPr>
          <a:xfrm>
            <a:off x="4389120" y="1325880"/>
            <a:ext cx="3429000" cy="1828800"/>
          </a:xfrm>
          <a:prstGeom prst="roundRect">
            <a:avLst>
              <a:gd fmla="val 16667" name="adj"/>
            </a:avLst>
          </a:prstGeom>
          <a:solidFill>
            <a:srgbClr val="0F1E37"/>
          </a:solidFill>
          <a:ln cap="flat" cmpd="sng" w="9525">
            <a:solidFill>
              <a:srgbClr val="1E3A5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24"/>
          <p:cNvSpPr/>
          <p:nvPr/>
        </p:nvSpPr>
        <p:spPr>
          <a:xfrm>
            <a:off x="4389120" y="1325880"/>
            <a:ext cx="64008" cy="1828800"/>
          </a:xfrm>
          <a:prstGeom prst="rect">
            <a:avLst/>
          </a:prstGeom>
          <a:solidFill>
            <a:srgbClr val="22D3E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24"/>
          <p:cNvSpPr txBox="1"/>
          <p:nvPr/>
        </p:nvSpPr>
        <p:spPr>
          <a:xfrm>
            <a:off x="4590288" y="1490472"/>
            <a:ext cx="3063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RESULT</a:t>
            </a:r>
            <a:endParaRPr/>
          </a:p>
        </p:txBody>
      </p:sp>
      <p:sp>
        <p:nvSpPr>
          <p:cNvPr id="300" name="Google Shape;300;p24"/>
          <p:cNvSpPr txBox="1"/>
          <p:nvPr/>
        </p:nvSpPr>
        <p:spPr>
          <a:xfrm>
            <a:off x="4590288" y="1892807"/>
            <a:ext cx="306324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Controlled OpenCTI → Wazuh enrichment demonstrated successfully.</a:t>
            </a:r>
            <a:endParaRPr/>
          </a:p>
        </p:txBody>
      </p:sp>
      <p:sp>
        <p:nvSpPr>
          <p:cNvPr id="301" name="Google Shape;301;p24"/>
          <p:cNvSpPr/>
          <p:nvPr/>
        </p:nvSpPr>
        <p:spPr>
          <a:xfrm>
            <a:off x="8138160" y="1325880"/>
            <a:ext cx="3429000" cy="1828800"/>
          </a:xfrm>
          <a:prstGeom prst="roundRect">
            <a:avLst>
              <a:gd fmla="val 16667" name="adj"/>
            </a:avLst>
          </a:prstGeom>
          <a:solidFill>
            <a:srgbClr val="0F1E37"/>
          </a:solidFill>
          <a:ln cap="flat" cmpd="sng" w="9525">
            <a:solidFill>
              <a:srgbClr val="1E3A5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24"/>
          <p:cNvSpPr/>
          <p:nvPr/>
        </p:nvSpPr>
        <p:spPr>
          <a:xfrm>
            <a:off x="8138160" y="1325880"/>
            <a:ext cx="64008" cy="1828800"/>
          </a:xfrm>
          <a:prstGeom prst="rect">
            <a:avLst/>
          </a:prstGeom>
          <a:solidFill>
            <a:srgbClr val="0066C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24"/>
          <p:cNvSpPr txBox="1"/>
          <p:nvPr/>
        </p:nvSpPr>
        <p:spPr>
          <a:xfrm>
            <a:off x="8339328" y="1490472"/>
            <a:ext cx="3063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RESULT</a:t>
            </a:r>
            <a:endParaRPr/>
          </a:p>
        </p:txBody>
      </p:sp>
      <p:sp>
        <p:nvSpPr>
          <p:cNvPr id="304" name="Google Shape;304;p24"/>
          <p:cNvSpPr txBox="1"/>
          <p:nvPr/>
        </p:nvSpPr>
        <p:spPr>
          <a:xfrm>
            <a:off x="8339328" y="1892807"/>
            <a:ext cx="306324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Rule 100600 generated a Level 12 alert with added ATT&amp;CK context.</a:t>
            </a:r>
            <a:endParaRPr/>
          </a:p>
        </p:txBody>
      </p:sp>
      <p:sp>
        <p:nvSpPr>
          <p:cNvPr id="305" name="Google Shape;305;p24"/>
          <p:cNvSpPr/>
          <p:nvPr/>
        </p:nvSpPr>
        <p:spPr>
          <a:xfrm>
            <a:off x="640080" y="3520440"/>
            <a:ext cx="3429000" cy="1828800"/>
          </a:xfrm>
          <a:prstGeom prst="roundRect">
            <a:avLst>
              <a:gd fmla="val 16667" name="adj"/>
            </a:avLst>
          </a:prstGeom>
          <a:solidFill>
            <a:srgbClr val="0F1E37"/>
          </a:solidFill>
          <a:ln cap="flat" cmpd="sng" w="9525">
            <a:solidFill>
              <a:srgbClr val="1E3A5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24"/>
          <p:cNvSpPr/>
          <p:nvPr/>
        </p:nvSpPr>
        <p:spPr>
          <a:xfrm>
            <a:off x="640080" y="3520440"/>
            <a:ext cx="64008" cy="1828800"/>
          </a:xfrm>
          <a:prstGeom prst="rect">
            <a:avLst/>
          </a:prstGeom>
          <a:solidFill>
            <a:srgbClr val="EA580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24"/>
          <p:cNvSpPr txBox="1"/>
          <p:nvPr/>
        </p:nvSpPr>
        <p:spPr>
          <a:xfrm>
            <a:off x="841247" y="3685032"/>
            <a:ext cx="3063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CHALLENGE</a:t>
            </a:r>
            <a:endParaRPr/>
          </a:p>
        </p:txBody>
      </p:sp>
      <p:sp>
        <p:nvSpPr>
          <p:cNvPr id="308" name="Google Shape;308;p24"/>
          <p:cNvSpPr txBox="1"/>
          <p:nvPr/>
        </p:nvSpPr>
        <p:spPr>
          <a:xfrm>
            <a:off x="841247" y="4087368"/>
            <a:ext cx="306324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Live custom IOC network rules did not consistently trigger despite valid telemetry.</a:t>
            </a:r>
            <a:endParaRPr/>
          </a:p>
        </p:txBody>
      </p:sp>
      <p:sp>
        <p:nvSpPr>
          <p:cNvPr id="309" name="Google Shape;309;p24"/>
          <p:cNvSpPr/>
          <p:nvPr/>
        </p:nvSpPr>
        <p:spPr>
          <a:xfrm>
            <a:off x="4389120" y="3520440"/>
            <a:ext cx="3429000" cy="1828800"/>
          </a:xfrm>
          <a:prstGeom prst="roundRect">
            <a:avLst>
              <a:gd fmla="val 16667" name="adj"/>
            </a:avLst>
          </a:prstGeom>
          <a:solidFill>
            <a:srgbClr val="0F1E37"/>
          </a:solidFill>
          <a:ln cap="flat" cmpd="sng" w="9525">
            <a:solidFill>
              <a:srgbClr val="1E3A5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24"/>
          <p:cNvSpPr/>
          <p:nvPr/>
        </p:nvSpPr>
        <p:spPr>
          <a:xfrm>
            <a:off x="4389120" y="3520440"/>
            <a:ext cx="64008" cy="1828800"/>
          </a:xfrm>
          <a:prstGeom prst="rect">
            <a:avLst/>
          </a:prstGeom>
          <a:solidFill>
            <a:srgbClr val="22D3E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24"/>
          <p:cNvSpPr txBox="1"/>
          <p:nvPr/>
        </p:nvSpPr>
        <p:spPr>
          <a:xfrm>
            <a:off x="4590288" y="3685032"/>
            <a:ext cx="3063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LESSON</a:t>
            </a:r>
            <a:endParaRPr/>
          </a:p>
        </p:txBody>
      </p:sp>
      <p:sp>
        <p:nvSpPr>
          <p:cNvPr id="312" name="Google Shape;312;p24"/>
          <p:cNvSpPr txBox="1"/>
          <p:nvPr/>
        </p:nvSpPr>
        <p:spPr>
          <a:xfrm>
            <a:off x="4590288" y="4087368"/>
            <a:ext cx="306324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Separate telemetry receipt, decoding, rule loading and alert generation during troubleshooting.</a:t>
            </a:r>
            <a:endParaRPr/>
          </a:p>
        </p:txBody>
      </p:sp>
      <p:sp>
        <p:nvSpPr>
          <p:cNvPr id="313" name="Google Shape;313;p24"/>
          <p:cNvSpPr/>
          <p:nvPr/>
        </p:nvSpPr>
        <p:spPr>
          <a:xfrm>
            <a:off x="8138160" y="3520440"/>
            <a:ext cx="3429000" cy="1828800"/>
          </a:xfrm>
          <a:prstGeom prst="roundRect">
            <a:avLst>
              <a:gd fmla="val 16667" name="adj"/>
            </a:avLst>
          </a:prstGeom>
          <a:solidFill>
            <a:srgbClr val="0F1E37"/>
          </a:solidFill>
          <a:ln cap="flat" cmpd="sng" w="9525">
            <a:solidFill>
              <a:srgbClr val="1E3A5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24"/>
          <p:cNvSpPr/>
          <p:nvPr/>
        </p:nvSpPr>
        <p:spPr>
          <a:xfrm>
            <a:off x="8138160" y="3520440"/>
            <a:ext cx="64008" cy="1828800"/>
          </a:xfrm>
          <a:prstGeom prst="rect">
            <a:avLst/>
          </a:prstGeom>
          <a:solidFill>
            <a:srgbClr val="16A34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24"/>
          <p:cNvSpPr txBox="1"/>
          <p:nvPr/>
        </p:nvSpPr>
        <p:spPr>
          <a:xfrm>
            <a:off x="8339328" y="3685032"/>
            <a:ext cx="3063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LESSON</a:t>
            </a:r>
            <a:endParaRPr/>
          </a:p>
        </p:txBody>
      </p:sp>
      <p:sp>
        <p:nvSpPr>
          <p:cNvPr id="316" name="Google Shape;316;p24"/>
          <p:cNvSpPr txBox="1"/>
          <p:nvPr/>
        </p:nvSpPr>
        <p:spPr>
          <a:xfrm>
            <a:off x="8339328" y="4087368"/>
            <a:ext cx="306324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Use evidence-driven validation and clearly distinguish controlled tests from live behavior.</a:t>
            </a:r>
            <a:endParaRPr/>
          </a:p>
        </p:txBody>
      </p:sp>
      <p:sp>
        <p:nvSpPr>
          <p:cNvPr id="317" name="Google Shape;317;p24"/>
          <p:cNvSpPr/>
          <p:nvPr/>
        </p:nvSpPr>
        <p:spPr>
          <a:xfrm>
            <a:off x="594360" y="6565392"/>
            <a:ext cx="10972800" cy="10972"/>
          </a:xfrm>
          <a:prstGeom prst="rect">
            <a:avLst/>
          </a:prstGeom>
          <a:solidFill>
            <a:srgbClr val="1E293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24"/>
          <p:cNvSpPr txBox="1"/>
          <p:nvPr/>
        </p:nvSpPr>
        <p:spPr>
          <a:xfrm>
            <a:off x="621792" y="6592824"/>
            <a:ext cx="64008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Threat Intelligence Integration with OpenCTI</a:t>
            </a:r>
            <a:endParaRPr/>
          </a:p>
        </p:txBody>
      </p:sp>
      <p:sp>
        <p:nvSpPr>
          <p:cNvPr id="319" name="Google Shape;319;p24"/>
          <p:cNvSpPr txBox="1"/>
          <p:nvPr/>
        </p:nvSpPr>
        <p:spPr>
          <a:xfrm>
            <a:off x="10698480" y="6592824"/>
            <a:ext cx="8229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71226"/>
        </a:solidFill>
      </p:bgPr>
    </p:bg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25"/>
          <p:cNvSpPr txBox="1"/>
          <p:nvPr/>
        </p:nvSpPr>
        <p:spPr>
          <a:xfrm>
            <a:off x="822960" y="914400"/>
            <a:ext cx="10515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00" u="none" cap="none" strike="noStrike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Conclusion</a:t>
            </a:r>
            <a:endParaRPr/>
          </a:p>
        </p:txBody>
      </p:sp>
      <p:sp>
        <p:nvSpPr>
          <p:cNvPr id="325" name="Google Shape;325;p25"/>
          <p:cNvSpPr txBox="1"/>
          <p:nvPr/>
        </p:nvSpPr>
        <p:spPr>
          <a:xfrm>
            <a:off x="1188720" y="1828800"/>
            <a:ext cx="9784080" cy="2468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• OpenCTI gave the SOC lab a central place to collect and understand threat intelligence.</a:t>
            </a:r>
            <a:endParaRPr/>
          </a:p>
          <a:p>
            <a:pPr indent="0" lvl="0" marL="0" marR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• Wazuh connected endpoint telemetry to detection and investigation.</a:t>
            </a:r>
            <a:endParaRPr/>
          </a:p>
          <a:p>
            <a:pPr indent="0" lvl="0" marL="0" marR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• MITRE ATT&amp;CK provided a common language for describing attacker behavior.</a:t>
            </a:r>
            <a:endParaRPr/>
          </a:p>
          <a:p>
            <a:pPr indent="0" lvl="0" marL="0" marR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• The Phase 4 detection improvement demonstrated how context can make an alert more useful for analysts.</a:t>
            </a:r>
            <a:endParaRPr/>
          </a:p>
        </p:txBody>
      </p:sp>
      <p:sp>
        <p:nvSpPr>
          <p:cNvPr id="326" name="Google Shape;326;p25"/>
          <p:cNvSpPr txBox="1"/>
          <p:nvPr/>
        </p:nvSpPr>
        <p:spPr>
          <a:xfrm>
            <a:off x="1920240" y="4983480"/>
            <a:ext cx="8229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22D3EE"/>
                </a:solidFill>
                <a:latin typeface="Calibri"/>
                <a:ea typeface="Calibri"/>
                <a:cs typeface="Calibri"/>
                <a:sym typeface="Calibri"/>
              </a:rPr>
              <a:t>Thank you</a:t>
            </a:r>
            <a:endParaRPr/>
          </a:p>
        </p:txBody>
      </p:sp>
      <p:sp>
        <p:nvSpPr>
          <p:cNvPr id="327" name="Google Shape;327;p25"/>
          <p:cNvSpPr/>
          <p:nvPr/>
        </p:nvSpPr>
        <p:spPr>
          <a:xfrm>
            <a:off x="594360" y="6565392"/>
            <a:ext cx="10972800" cy="10972"/>
          </a:xfrm>
          <a:prstGeom prst="rect">
            <a:avLst/>
          </a:prstGeom>
          <a:solidFill>
            <a:srgbClr val="1E293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25"/>
          <p:cNvSpPr txBox="1"/>
          <p:nvPr/>
        </p:nvSpPr>
        <p:spPr>
          <a:xfrm>
            <a:off x="621792" y="6592824"/>
            <a:ext cx="64008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Threat Intelligence Integration with OpenCTI</a:t>
            </a:r>
            <a:endParaRPr/>
          </a:p>
        </p:txBody>
      </p:sp>
      <p:sp>
        <p:nvSpPr>
          <p:cNvPr id="329" name="Google Shape;329;p25"/>
          <p:cNvSpPr txBox="1"/>
          <p:nvPr/>
        </p:nvSpPr>
        <p:spPr>
          <a:xfrm>
            <a:off x="10698480" y="6592824"/>
            <a:ext cx="8229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